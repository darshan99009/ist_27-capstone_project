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76" r:id="rId9"/>
    <p:sldId id="277" r:id="rId10"/>
    <p:sldId id="278" r:id="rId11"/>
    <p:sldId id="265" r:id="rId12"/>
    <p:sldId id="267" r:id="rId13"/>
    <p:sldId id="279" r:id="rId14"/>
    <p:sldId id="280" r:id="rId15"/>
    <p:sldId id="268" r:id="rId16"/>
    <p:sldId id="282" r:id="rId17"/>
    <p:sldId id="270" r:id="rId18"/>
    <p:sldId id="271" r:id="rId19"/>
    <p:sldId id="281" r:id="rId20"/>
    <p:sldId id="274" r:id="rId2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724" y="-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39984-CF83-4E11-B79B-0A84A016E0C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A14D8-E22A-4E2D-8C68-2D05347175C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77334" y="514350"/>
            <a:ext cx="10837333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594210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1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77334" y="514350"/>
            <a:ext cx="10837333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5340" y="886967"/>
            <a:ext cx="10668000" cy="58419"/>
          </a:xfrm>
          <a:custGeom>
            <a:avLst/>
            <a:gdLst/>
            <a:ahLst/>
            <a:cxnLst/>
            <a:rect l="l" t="t" r="r" b="b"/>
            <a:pathLst>
              <a:path w="10668000" h="58419">
                <a:moveTo>
                  <a:pt x="10668000" y="46355"/>
                </a:moveTo>
                <a:lnTo>
                  <a:pt x="0" y="46355"/>
                </a:lnTo>
                <a:lnTo>
                  <a:pt x="0" y="57912"/>
                </a:lnTo>
                <a:lnTo>
                  <a:pt x="10668000" y="57912"/>
                </a:lnTo>
                <a:lnTo>
                  <a:pt x="10668000" y="46355"/>
                </a:lnTo>
                <a:close/>
              </a:path>
              <a:path w="10668000" h="58419">
                <a:moveTo>
                  <a:pt x="10668000" y="0"/>
                </a:moveTo>
                <a:lnTo>
                  <a:pt x="0" y="0"/>
                </a:lnTo>
                <a:lnTo>
                  <a:pt x="0" y="34798"/>
                </a:lnTo>
                <a:lnTo>
                  <a:pt x="10668000" y="34798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992367"/>
            <a:ext cx="12192000" cy="86563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1641" y="260680"/>
            <a:ext cx="6004559" cy="4823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6444" y="1167130"/>
            <a:ext cx="11015980" cy="4333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38/s41598-025-08515-z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891641" y="260680"/>
            <a:ext cx="6004559" cy="430887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8" name="Title 15"/>
          <p:cNvSpPr txBox="1">
            <a:spLocks/>
          </p:cNvSpPr>
          <p:nvPr/>
        </p:nvSpPr>
        <p:spPr>
          <a:xfrm>
            <a:off x="1050877" y="1322386"/>
            <a:ext cx="10363200" cy="147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17365D"/>
                </a:solidFill>
                <a:effectLst/>
                <a:uLnTx/>
                <a:uFillTx/>
                <a:latin typeface="Cambria"/>
                <a:ea typeface="+mj-ea"/>
                <a:cs typeface="Cambria"/>
              </a:rPr>
              <a:t> 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17365D"/>
              </a:solidFill>
              <a:effectLst/>
              <a:uLnTx/>
              <a:uFillTx/>
              <a:latin typeface="Cambria"/>
              <a:ea typeface="+mj-ea"/>
              <a:cs typeface="Cambria"/>
            </a:endParaRPr>
          </a:p>
        </p:txBody>
      </p:sp>
      <p:sp>
        <p:nvSpPr>
          <p:cNvPr id="19" name="Subtitle 16"/>
          <p:cNvSpPr txBox="1">
            <a:spLocks/>
          </p:cNvSpPr>
          <p:nvPr/>
        </p:nvSpPr>
        <p:spPr>
          <a:xfrm>
            <a:off x="2032000" y="3326641"/>
            <a:ext cx="8534400" cy="175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Google Shape;87;p13"/>
          <p:cNvSpPr txBox="1">
            <a:spLocks/>
          </p:cNvSpPr>
          <p:nvPr/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STUDENT INNOVATION:SWADESHI FOR ATMANIRBHAR BHARAT-</a:t>
            </a:r>
            <a:br>
              <a:rPr kumimoji="0" lang="en-GB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</a:br>
            <a:r>
              <a:rPr kumimoji="0" lang="en-GB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SMART </a:t>
            </a:r>
            <a:r>
              <a:rPr kumimoji="0" lang="en-GB" altLang="en-GB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AUTOMATION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21" name="Google Shape;88;p13"/>
          <p:cNvSpPr txBox="1">
            <a:spLocks/>
          </p:cNvSpPr>
          <p:nvPr/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smtClean="0">
                <a:ln>
                  <a:noFill/>
                </a:ln>
                <a:solidFill>
                  <a:srgbClr val="17365D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Batch Number:</a:t>
            </a:r>
            <a:r>
              <a:rPr kumimoji="0" lang="en-GB" sz="18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IST</a:t>
            </a:r>
            <a:r>
              <a:rPr kumimoji="0" lang="en-GB" altLang="en-GB" sz="18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_27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22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ctr">
              <a:buClr>
                <a:srgbClr val="17365D"/>
              </a:buClr>
              <a:buSzPts val="2000"/>
            </a:pPr>
            <a:r>
              <a:rPr lang="en-US" sz="16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</a:p>
          <a:p>
            <a:pPr lvl="0" algn="ctr">
              <a:buClr>
                <a:srgbClr val="17365D"/>
              </a:buClr>
              <a:buSzPts val="2000"/>
            </a:pPr>
            <a:endParaRPr lang="en-US" sz="16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800" b="1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Dr. </a:t>
            </a:r>
            <a:r>
              <a:rPr lang="en-US" sz="1800" b="1" dirty="0" err="1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Afroz</a:t>
            </a:r>
            <a:r>
              <a:rPr lang="en-US" sz="1800" b="1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 Pasha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, PhD, </a:t>
            </a:r>
            <a:r>
              <a:rPr lang="en-US" sz="1800" dirty="0" err="1" smtClean="0">
                <a:latin typeface="Cambria" pitchFamily="18" charset="0"/>
                <a:ea typeface="Cambria" pitchFamily="18" charset="0"/>
              </a:rPr>
              <a:t>M.Tech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., B.E. </a:t>
            </a:r>
          </a:p>
          <a:p>
            <a:pPr algn="ctr"/>
            <a:r>
              <a:rPr lang="en-US" sz="1800" dirty="0" smtClean="0">
                <a:latin typeface="Cambria" pitchFamily="18" charset="0"/>
                <a:ea typeface="Cambria" pitchFamily="18" charset="0"/>
              </a:rPr>
              <a:t>Assistant Professor - Senior Scale </a:t>
            </a:r>
          </a:p>
          <a:p>
            <a:pPr algn="ctr"/>
            <a:r>
              <a:rPr lang="en-US" sz="1800" dirty="0" smtClean="0">
                <a:latin typeface="Cambria" pitchFamily="18" charset="0"/>
                <a:ea typeface="Cambria" pitchFamily="18" charset="0"/>
              </a:rPr>
              <a:t>School of Computer Science and Engineering Presidency University </a:t>
            </a:r>
          </a:p>
          <a:p>
            <a:pPr lvl="0" algn="ctr">
              <a:spcBef>
                <a:spcPts val="400"/>
              </a:spcBef>
              <a:buClr>
                <a:srgbClr val="17365D"/>
              </a:buClr>
              <a:buSzPts val="2000"/>
            </a:pPr>
            <a:endParaRPr lang="en-US" sz="1800" b="1" dirty="0" smtClean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23" name="Google Shape;89;p13"/>
          <p:cNvGraphicFramePr>
            <a:graphicFrameLocks/>
          </p:cNvGraphicFramePr>
          <p:nvPr/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85000"/>
                <a:gridCol w="3333675"/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CSE7302-</a:t>
            </a: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University </a:t>
            </a: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Project</a:t>
            </a: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25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Information Science And Technology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 PALLAVI </a:t>
            </a:r>
            <a:r>
              <a:rPr lang="en-US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R</a:t>
            </a:r>
            <a:endParaRPr lang="en-US" sz="1800" b="1" dirty="0" smtClean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MS. BENITHA CHRISTINAL </a:t>
            </a:r>
            <a:r>
              <a:rPr lang="en-US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J</a:t>
            </a:r>
            <a:endParaRPr lang="en-US" sz="1800" b="1" dirty="0" smtClean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26" name="Table 1"/>
          <p:cNvGraphicFramePr>
            <a:graphicFrameLocks noGrp="1"/>
          </p:cNvGraphicFramePr>
          <p:nvPr/>
        </p:nvGraphicFramePr>
        <p:xfrm>
          <a:off x="570669" y="2676653"/>
          <a:ext cx="5488299" cy="1483360"/>
        </p:xfrm>
        <a:graphic>
          <a:graphicData uri="http://schemas.openxmlformats.org/drawingml/2006/table">
            <a:tbl>
              <a:tblPr firstRow="1" bandRow="1"/>
              <a:tblGrid>
                <a:gridCol w="1807420"/>
                <a:gridCol w="3680879"/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20221IST00</a:t>
                      </a:r>
                      <a:r>
                        <a:rPr lang="en-US" altLang="en-GB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55</a:t>
                      </a:r>
                      <a:endParaRPr lang="en-IN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DARSHAN GOWDA S</a:t>
                      </a:r>
                      <a:endParaRPr lang="en-IN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20221IST00</a:t>
                      </a:r>
                      <a:r>
                        <a:rPr lang="en-US" altLang="en-GB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69</a:t>
                      </a:r>
                      <a:endParaRPr lang="en-IN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dirty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CHETHAN C</a:t>
                      </a:r>
                      <a:endParaRPr lang="en-IN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20221IST0</a:t>
                      </a:r>
                      <a:r>
                        <a:rPr lang="en-US" altLang="en-GB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112</a:t>
                      </a:r>
                      <a:endParaRPr lang="en-IN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CHIRAG GOWDA SV</a:t>
                      </a:r>
                      <a:endParaRPr lang="en-IN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91641" y="260680"/>
            <a:ext cx="6004559" cy="430887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Google Shape;114;p17"/>
          <p:cNvSpPr txBox="1">
            <a:spLocks/>
          </p:cNvSpPr>
          <p:nvPr/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17365D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Analysis of Problem Statement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17365D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026" y="1281622"/>
            <a:ext cx="10888982" cy="544764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en-GB" sz="2400" dirty="0" smtClean="0">
                <a:solidFill>
                  <a:srgbClr val="000000"/>
                </a:solidFill>
              </a:rPr>
              <a:t>E</a:t>
            </a:r>
            <a:r>
              <a:rPr lang="en-GB" sz="2400" dirty="0" err="1">
                <a:solidFill>
                  <a:srgbClr val="000000"/>
                </a:solidFill>
              </a:rPr>
              <a:t>quipment</a:t>
            </a:r>
            <a:r>
              <a:rPr lang="en-GB" sz="2400" dirty="0">
                <a:solidFill>
                  <a:srgbClr val="000000"/>
                </a:solidFill>
              </a:rPr>
              <a:t> data is complex and includes time-series sensor values </a:t>
            </a:r>
            <a:r>
              <a:rPr lang="en-US" altLang="en-GB" sz="2400" dirty="0">
                <a:solidFill>
                  <a:srgbClr val="000000"/>
                </a:solidFill>
              </a:rPr>
              <a:t>  and </a:t>
            </a:r>
            <a:r>
              <a:rPr lang="en-GB" sz="2400" dirty="0">
                <a:solidFill>
                  <a:srgbClr val="000000"/>
                </a:solidFill>
              </a:rPr>
              <a:t>categorical logs</a:t>
            </a:r>
            <a:r>
              <a:rPr lang="en-GB" sz="2400" dirty="0" smtClean="0">
                <a:solidFill>
                  <a:srgbClr val="000000"/>
                </a:solidFill>
              </a:rPr>
              <a:t>.</a:t>
            </a:r>
          </a:p>
          <a:p>
            <a:pPr>
              <a:buFont typeface="Arial" pitchFamily="34" charset="0"/>
              <a:buChar char="•"/>
            </a:pPr>
            <a:endParaRPr lang="en-GB" sz="2400" dirty="0" smtClean="0"/>
          </a:p>
          <a:p>
            <a:pPr>
              <a:buFont typeface="Arial" pitchFamily="34" charset="0"/>
              <a:buChar char="•"/>
            </a:pPr>
            <a:r>
              <a:rPr lang="en-US" altLang="en-GB" sz="2400" dirty="0" smtClean="0"/>
              <a:t>Pr</a:t>
            </a:r>
            <a:r>
              <a:rPr lang="en-GB" sz="2400" dirty="0" err="1" smtClean="0"/>
              <a:t>edicting</a:t>
            </a:r>
            <a:r>
              <a:rPr lang="en-GB" sz="2400" dirty="0" smtClean="0"/>
              <a:t> failure requires disciplined </a:t>
            </a:r>
            <a:r>
              <a:rPr lang="en-GB" sz="2400" dirty="0" err="1" smtClean="0"/>
              <a:t>preprocessing</a:t>
            </a:r>
            <a:r>
              <a:rPr lang="en-GB" sz="2400" dirty="0" smtClean="0"/>
              <a:t> such as feature scaling, encoding, and splitting.</a:t>
            </a:r>
          </a:p>
          <a:p>
            <a:pPr>
              <a:buFont typeface="Arial" pitchFamily="34" charset="0"/>
              <a:buChar char="•"/>
            </a:pPr>
            <a:endParaRPr lang="en-US" altLang="en-GB" sz="2400" dirty="0" smtClean="0"/>
          </a:p>
          <a:p>
            <a:pPr>
              <a:buFont typeface="Arial" pitchFamily="34" charset="0"/>
              <a:buChar char="•"/>
            </a:pPr>
            <a:r>
              <a:rPr lang="en-US" altLang="en-GB" sz="2400" dirty="0" smtClean="0"/>
              <a:t>Mo</a:t>
            </a:r>
            <a:r>
              <a:rPr lang="en-GB" sz="2400" dirty="0" smtClean="0"/>
              <a:t>del choice impacts accuracy; ensemble methods often perform best for tabular maintenance data.</a:t>
            </a:r>
          </a:p>
          <a:p>
            <a:pPr>
              <a:buFont typeface="Arial" pitchFamily="34" charset="0"/>
              <a:buChar char="•"/>
            </a:pPr>
            <a:endParaRPr lang="en-GB" sz="2400" dirty="0" smtClean="0"/>
          </a:p>
          <a:p>
            <a:pPr>
              <a:buFont typeface="Arial" pitchFamily="34" charset="0"/>
              <a:buChar char="•"/>
            </a:pPr>
            <a:r>
              <a:rPr lang="en-US" altLang="en-GB" sz="2400" dirty="0" err="1" smtClean="0"/>
              <a:t>Succ</a:t>
            </a:r>
            <a:r>
              <a:rPr lang="en-GB" sz="2400" dirty="0" err="1" smtClean="0"/>
              <a:t>ess</a:t>
            </a:r>
            <a:r>
              <a:rPr lang="en-GB" sz="2400" dirty="0" smtClean="0"/>
              <a:t> is measured via metrics like accuracy, precision, recall, and ROC-AUC.</a:t>
            </a:r>
          </a:p>
          <a:p>
            <a:endParaRPr lang="en-GB" sz="2800" dirty="0" smtClean="0"/>
          </a:p>
          <a:p>
            <a:endParaRPr lang="en-GB" sz="2800" dirty="0" smtClean="0">
              <a:solidFill>
                <a:srgbClr val="000000"/>
              </a:solidFill>
            </a:endParaRPr>
          </a:p>
          <a:p>
            <a:endParaRPr lang="en-GB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Verdana"/>
                <a:cs typeface="Verdana"/>
              </a:rPr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914400"/>
            <a:ext cx="9404350" cy="481542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GB" sz="24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Collect and </a:t>
            </a:r>
            <a:r>
              <a:rPr lang="en-GB" sz="2400" dirty="0" err="1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preprocess</a:t>
            </a:r>
            <a:r>
              <a:rPr lang="en-GB" sz="24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 industrial equipment data including telemetry, maintenance logs, error history, and failure records.</a:t>
            </a:r>
          </a:p>
          <a:p>
            <a:pPr algn="just"/>
            <a:endParaRPr lang="en-GB" sz="2400" dirty="0" smtClean="0">
              <a:latin typeface="Cambria" pitchFamily="18" charset="0"/>
              <a:ea typeface="Cambria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GB" sz="24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 Perform Exploratory Data Analysis (EDA) to understand key patterns and features impacting failures.</a:t>
            </a:r>
          </a:p>
          <a:p>
            <a:pPr algn="just"/>
            <a:r>
              <a:rPr lang="en-GB" sz="24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 </a:t>
            </a:r>
          </a:p>
          <a:p>
            <a:pPr algn="just">
              <a:buFont typeface="Arial" pitchFamily="34" charset="0"/>
              <a:buChar char="•"/>
            </a:pPr>
            <a:r>
              <a:rPr lang="en-GB" sz="24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 Train and evaluate ML models to accurately predict potential equipment failures.</a:t>
            </a:r>
          </a:p>
          <a:p>
            <a:pPr algn="just"/>
            <a:endParaRPr lang="en-GB" sz="2400" dirty="0" smtClean="0">
              <a:solidFill>
                <a:srgbClr val="000000"/>
              </a:solidFill>
              <a:latin typeface="Cambria" pitchFamily="18" charset="0"/>
              <a:ea typeface="Cambria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GB" sz="24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Deploy a prediction pipeline to infer future failures from new data.</a:t>
            </a:r>
          </a:p>
          <a:p>
            <a:pPr algn="just"/>
            <a:endParaRPr lang="en-GB" sz="2400" dirty="0" smtClean="0">
              <a:solidFill>
                <a:srgbClr val="000000"/>
              </a:solidFill>
              <a:latin typeface="Cambria" pitchFamily="18" charset="0"/>
              <a:ea typeface="Cambria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GB" sz="24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Provide insights that help reduce downtime and </a:t>
            </a:r>
            <a:r>
              <a:rPr lang="en-GB" sz="2400" dirty="0" err="1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optimiz</a:t>
            </a:r>
            <a:r>
              <a:rPr lang="en-US" altLang="en-GB" sz="24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e </a:t>
            </a:r>
            <a:r>
              <a:rPr lang="en-GB" sz="2400" dirty="0" smtClean="0">
                <a:latin typeface="Cambria" pitchFamily="18" charset="0"/>
                <a:ea typeface="Cambria" pitchFamily="18" charset="0"/>
              </a:rPr>
              <a:t>maintenance scheduling.</a:t>
            </a:r>
            <a:endParaRPr lang="en-GB" sz="2400" dirty="0" smtClean="0">
              <a:latin typeface="Cambria" pitchFamily="18" charset="0"/>
              <a:ea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Verdana"/>
                <a:cs typeface="Verdana"/>
              </a:rPr>
              <a:t>Literature</a:t>
            </a:r>
            <a:r>
              <a:rPr spc="-50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Review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7562" y="1347342"/>
            <a:ext cx="10426700" cy="4321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1750" b="1" dirty="0" smtClean="0">
                <a:latin typeface="Cambria" pitchFamily="18" charset="0"/>
                <a:ea typeface="Cambria" pitchFamily="18" charset="0"/>
              </a:rPr>
              <a:t>1. AI-Powered Predictive Maintenance System for Industrial Equipment (2025)</a:t>
            </a:r>
            <a:endParaRPr lang="en-US" sz="1750" dirty="0" smtClean="0">
              <a:latin typeface="Cambria" pitchFamily="18" charset="0"/>
              <a:ea typeface="Cambria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Proposes a hybrid AI system using sensor data, anomaly detection, and machine learning models.</a:t>
            </a:r>
          </a:p>
          <a:p>
            <a:pPr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The system predicts equipment failures early and improves maintenance planning.</a:t>
            </a:r>
          </a:p>
          <a:p>
            <a:pPr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Shows reduction in downtime and maintenance cost, but real-time industrial deployment and </a:t>
            </a:r>
            <a:r>
              <a:rPr lang="en-US" sz="1750" dirty="0" err="1" smtClean="0">
                <a:latin typeface="Cambria" pitchFamily="18" charset="0"/>
                <a:ea typeface="Cambria" pitchFamily="18" charset="0"/>
              </a:rPr>
              <a:t>labelled</a:t>
            </a:r>
            <a:r>
              <a:rPr lang="en-US" sz="1750" dirty="0" smtClean="0">
                <a:latin typeface="Cambria" pitchFamily="18" charset="0"/>
                <a:ea typeface="Cambria" pitchFamily="18" charset="0"/>
              </a:rPr>
              <a:t> data availability remain challenges. </a:t>
            </a:r>
            <a:endParaRPr lang="en-US" sz="1750" dirty="0">
              <a:latin typeface="Cambria" pitchFamily="18" charset="0"/>
              <a:ea typeface="Cambria" pitchFamily="18" charset="0"/>
            </a:endParaRPr>
          </a:p>
          <a:p>
            <a:endParaRPr lang="en-US" sz="175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1750" b="1" dirty="0" smtClean="0">
                <a:latin typeface="Cambria" pitchFamily="18" charset="0"/>
                <a:ea typeface="Cambria" pitchFamily="18" charset="0"/>
              </a:rPr>
              <a:t>2. Machinery Diagnostics and Prognostics using Condition-Based Maintenance (2006)</a:t>
            </a:r>
            <a:endParaRPr lang="en-US" sz="1750" dirty="0" smtClean="0">
              <a:latin typeface="Cambria" pitchFamily="18" charset="0"/>
              <a:ea typeface="Cambria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Explains the concept of condition-based maintenance using data collection, processing, and decision-making.</a:t>
            </a:r>
          </a:p>
          <a:p>
            <a:pPr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Highlights diagnostic techniques to detect faults and prognostic models to predict future failures.</a:t>
            </a:r>
          </a:p>
          <a:p>
            <a:pPr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Shows that multi-sensor data improves accuracy but integration and real-time implementation remain difficult. </a:t>
            </a:r>
          </a:p>
          <a:p>
            <a:endParaRPr lang="en-US" sz="175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1750" b="1" dirty="0" smtClean="0">
                <a:latin typeface="Cambria" pitchFamily="18" charset="0"/>
                <a:ea typeface="Cambria" pitchFamily="18" charset="0"/>
              </a:rPr>
              <a:t>3. Machine Learning-Based Predictive Maintenance of Industrial Machines (2023)</a:t>
            </a:r>
            <a:endParaRPr lang="en-US" sz="1750" dirty="0" smtClean="0">
              <a:latin typeface="Cambria" pitchFamily="18" charset="0"/>
              <a:ea typeface="Cambria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Discusses how ML algorithms like Random Forest, SVM, and Decision Trees predict machine failures.</a:t>
            </a:r>
          </a:p>
          <a:p>
            <a:pPr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Demonstrates improved equipment reliability and reduced downtime compared to traditional maintenance.</a:t>
            </a:r>
          </a:p>
          <a:p>
            <a:pPr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Requires large amounts of historical data and proper feature selection for effective prediction. </a:t>
            </a:r>
            <a:endParaRPr lang="en-US" sz="1750" dirty="0">
              <a:latin typeface="Cambria" pitchFamily="18" charset="0"/>
              <a:ea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Verdana"/>
                <a:cs typeface="Verdana"/>
              </a:rPr>
              <a:t>Literature</a:t>
            </a:r>
            <a:r>
              <a:rPr spc="-50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Review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7562" y="1347342"/>
            <a:ext cx="9889490" cy="4321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/>
            <a:r>
              <a:rPr lang="en-US" sz="1750" b="1" dirty="0" smtClean="0">
                <a:latin typeface="Cambria" pitchFamily="18" charset="0"/>
                <a:ea typeface="Cambria" pitchFamily="18" charset="0"/>
              </a:rPr>
              <a:t>4. Comparing Deep Learning and Fourier Series Models for Equipment Failure Prediction (2025)</a:t>
            </a:r>
            <a:endParaRPr lang="en-US" sz="1750" dirty="0" smtClean="0">
              <a:latin typeface="Cambria" pitchFamily="18" charset="0"/>
              <a:ea typeface="Cambria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Compares mathematical signal analysis with deep learning (LSTM) for predicting failures.</a:t>
            </a:r>
          </a:p>
          <a:p>
            <a:pPr algn="just"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Results show LSTM gives better prediction accuracy and captures complex machine </a:t>
            </a:r>
            <a:r>
              <a:rPr lang="en-US" sz="1750" dirty="0" err="1" smtClean="0">
                <a:latin typeface="Cambria" pitchFamily="18" charset="0"/>
                <a:ea typeface="Cambria" pitchFamily="18" charset="0"/>
              </a:rPr>
              <a:t>behaviour</a:t>
            </a:r>
            <a:r>
              <a:rPr lang="en-US" sz="1750" dirty="0" smtClean="0">
                <a:latin typeface="Cambria" pitchFamily="18" charset="0"/>
                <a:ea typeface="Cambria" pitchFamily="18" charset="0"/>
              </a:rPr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However, deep learning requires high data volume and complex system integration. </a:t>
            </a:r>
          </a:p>
          <a:p>
            <a:pPr algn="just"/>
            <a:endParaRPr lang="en-US" sz="1750" dirty="0" smtClean="0">
              <a:latin typeface="Cambria" pitchFamily="18" charset="0"/>
              <a:ea typeface="Cambria" pitchFamily="18" charset="0"/>
            </a:endParaRPr>
          </a:p>
          <a:p>
            <a:pPr algn="just"/>
            <a:r>
              <a:rPr lang="en-US" sz="1750" b="1" dirty="0" smtClean="0">
                <a:latin typeface="Cambria" pitchFamily="18" charset="0"/>
                <a:ea typeface="Cambria" pitchFamily="18" charset="0"/>
              </a:rPr>
              <a:t>5. Comparison of Deep Learning Models for Predictive Maintenance (2025)</a:t>
            </a:r>
            <a:endParaRPr lang="en-US" sz="1750" dirty="0" smtClean="0">
              <a:latin typeface="Cambria" pitchFamily="18" charset="0"/>
              <a:ea typeface="Cambria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Evaluates CNN, LSTM, and hybrid CNN-LSTM models using industrial sensor data.</a:t>
            </a:r>
          </a:p>
          <a:p>
            <a:pPr algn="just"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Hybrid CNN-LSTM achieves highest accuracy and reliability in failure prediction.</a:t>
            </a:r>
          </a:p>
          <a:p>
            <a:pPr algn="just"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Highlights challenges in data quality, computational cost, and deployment in real industries. </a:t>
            </a:r>
          </a:p>
          <a:p>
            <a:pPr algn="just"/>
            <a:endParaRPr lang="en-US" sz="1750" dirty="0" smtClean="0">
              <a:latin typeface="Cambria" pitchFamily="18" charset="0"/>
              <a:ea typeface="Cambria" pitchFamily="18" charset="0"/>
            </a:endParaRPr>
          </a:p>
          <a:p>
            <a:pPr algn="just"/>
            <a:r>
              <a:rPr lang="en-US" sz="1750" b="1" dirty="0" smtClean="0">
                <a:latin typeface="Cambria" pitchFamily="18" charset="0"/>
                <a:ea typeface="Cambria" pitchFamily="18" charset="0"/>
              </a:rPr>
              <a:t>6. Condition Monitoring and Predictive Maintenance: Hybrid and Signal Processing Review (2025)</a:t>
            </a:r>
            <a:endParaRPr lang="en-US" sz="1750" dirty="0" smtClean="0">
              <a:latin typeface="Cambria" pitchFamily="18" charset="0"/>
              <a:ea typeface="Cambria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Reviews classical ML, deep learning, and hybrid physics-based predictive maintenance approaches.</a:t>
            </a:r>
          </a:p>
          <a:p>
            <a:pPr algn="just"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Shows advanced signal processing and multi-modal sensor fusion improve fault detection.</a:t>
            </a:r>
          </a:p>
          <a:p>
            <a:pPr algn="just"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Major issues include lack of </a:t>
            </a:r>
            <a:r>
              <a:rPr lang="en-US" sz="1750" dirty="0" err="1" smtClean="0">
                <a:latin typeface="Cambria" pitchFamily="18" charset="0"/>
                <a:ea typeface="Cambria" pitchFamily="18" charset="0"/>
              </a:rPr>
              <a:t>labelled</a:t>
            </a:r>
            <a:r>
              <a:rPr lang="en-US" sz="1750" dirty="0" smtClean="0">
                <a:latin typeface="Cambria" pitchFamily="18" charset="0"/>
                <a:ea typeface="Cambria" pitchFamily="18" charset="0"/>
              </a:rPr>
              <a:t> data, model interpretability, and adapting to changing machine conditions.</a:t>
            </a:r>
            <a:endParaRPr lang="en-US" sz="1750" dirty="0">
              <a:latin typeface="Cambria" pitchFamily="18" charset="0"/>
              <a:ea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Verdana"/>
                <a:cs typeface="Verdana"/>
              </a:rPr>
              <a:t>Literature</a:t>
            </a:r>
            <a:r>
              <a:rPr spc="-50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Review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7562" y="1347342"/>
            <a:ext cx="9852660" cy="4321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1750" b="1" dirty="0" smtClean="0">
                <a:latin typeface="Cambria" pitchFamily="18" charset="0"/>
                <a:ea typeface="Cambria" pitchFamily="18" charset="0"/>
              </a:rPr>
              <a:t>7. </a:t>
            </a:r>
            <a:r>
              <a:rPr lang="en-US" sz="1750" b="1" dirty="0" err="1" smtClean="0">
                <a:latin typeface="Cambria" pitchFamily="18" charset="0"/>
                <a:ea typeface="Cambria" pitchFamily="18" charset="0"/>
              </a:rPr>
              <a:t>IoT</a:t>
            </a:r>
            <a:r>
              <a:rPr lang="en-US" sz="1750" b="1" dirty="0" smtClean="0">
                <a:latin typeface="Cambria" pitchFamily="18" charset="0"/>
                <a:ea typeface="Cambria" pitchFamily="18" charset="0"/>
              </a:rPr>
              <a:t>-Based Predictive Maintenance in Industrial Machinery (2025)</a:t>
            </a:r>
            <a:endParaRPr lang="en-US" sz="1750" dirty="0" smtClean="0">
              <a:latin typeface="Cambria" pitchFamily="18" charset="0"/>
              <a:ea typeface="Cambria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Uses </a:t>
            </a:r>
            <a:r>
              <a:rPr lang="en-US" sz="1750" dirty="0" err="1" smtClean="0">
                <a:latin typeface="Cambria" pitchFamily="18" charset="0"/>
                <a:ea typeface="Cambria" pitchFamily="18" charset="0"/>
              </a:rPr>
              <a:t>IoT</a:t>
            </a:r>
            <a:r>
              <a:rPr lang="en-US" sz="1750" dirty="0" smtClean="0">
                <a:latin typeface="Cambria" pitchFamily="18" charset="0"/>
                <a:ea typeface="Cambria" pitchFamily="18" charset="0"/>
              </a:rPr>
              <a:t> sensors, cloud computing, and ML algorithms for real-time monitoring.</a:t>
            </a:r>
          </a:p>
          <a:p>
            <a:pPr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Demonstrates improved machine reliability and reduced maintenance cost.</a:t>
            </a:r>
          </a:p>
          <a:p>
            <a:pPr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Challenges include data security, storage, and scalability of </a:t>
            </a:r>
            <a:r>
              <a:rPr lang="en-US" sz="1750" dirty="0" err="1" smtClean="0">
                <a:latin typeface="Cambria" pitchFamily="18" charset="0"/>
                <a:ea typeface="Cambria" pitchFamily="18" charset="0"/>
              </a:rPr>
              <a:t>IoT</a:t>
            </a:r>
            <a:r>
              <a:rPr lang="en-US" sz="1750" dirty="0" smtClean="0">
                <a:latin typeface="Cambria" pitchFamily="18" charset="0"/>
                <a:ea typeface="Cambria" pitchFamily="18" charset="0"/>
              </a:rPr>
              <a:t> systems. </a:t>
            </a:r>
          </a:p>
          <a:p>
            <a:endParaRPr lang="en-US" sz="175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1750" b="1" dirty="0" smtClean="0">
                <a:latin typeface="Cambria" pitchFamily="18" charset="0"/>
                <a:ea typeface="Cambria" pitchFamily="18" charset="0"/>
              </a:rPr>
              <a:t>8. Predictive Maintenance using Machine Learning in Industrial </a:t>
            </a:r>
            <a:r>
              <a:rPr lang="en-US" sz="1750" b="1" dirty="0" err="1" smtClean="0">
                <a:latin typeface="Cambria" pitchFamily="18" charset="0"/>
                <a:ea typeface="Cambria" pitchFamily="18" charset="0"/>
              </a:rPr>
              <a:t>IoT</a:t>
            </a:r>
            <a:r>
              <a:rPr lang="en-US" sz="1750" b="1" dirty="0" smtClean="0">
                <a:latin typeface="Cambria" pitchFamily="18" charset="0"/>
                <a:ea typeface="Cambria" pitchFamily="18" charset="0"/>
              </a:rPr>
              <a:t> (2024)</a:t>
            </a:r>
            <a:endParaRPr lang="en-US" sz="1750" dirty="0" smtClean="0">
              <a:latin typeface="Cambria" pitchFamily="18" charset="0"/>
              <a:ea typeface="Cambria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Explains how </a:t>
            </a:r>
            <a:r>
              <a:rPr lang="en-US" sz="1750" dirty="0" err="1" smtClean="0">
                <a:latin typeface="Cambria" pitchFamily="18" charset="0"/>
                <a:ea typeface="Cambria" pitchFamily="18" charset="0"/>
              </a:rPr>
              <a:t>IoT</a:t>
            </a:r>
            <a:r>
              <a:rPr lang="en-US" sz="1750" dirty="0" smtClean="0">
                <a:latin typeface="Cambria" pitchFamily="18" charset="0"/>
                <a:ea typeface="Cambria" pitchFamily="18" charset="0"/>
              </a:rPr>
              <a:t> generates continuous data streams that enable real-time failure prediction.</a:t>
            </a:r>
          </a:p>
          <a:p>
            <a:pPr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Uses deep learning and adaptive algorithms to improve maintenance decisions.</a:t>
            </a:r>
          </a:p>
          <a:p>
            <a:pPr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Managing large data streams and maintaining real-time response remain key difficulties. </a:t>
            </a:r>
          </a:p>
          <a:p>
            <a:endParaRPr lang="en-US" sz="175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1750" b="1" dirty="0" smtClean="0">
                <a:latin typeface="Cambria" pitchFamily="18" charset="0"/>
                <a:ea typeface="Cambria" pitchFamily="18" charset="0"/>
              </a:rPr>
              <a:t>9. Predictive Maintenance Methods for Electrical Machines using ML and Sensor Data (2025)</a:t>
            </a:r>
            <a:endParaRPr lang="en-US" sz="1750" dirty="0" smtClean="0">
              <a:latin typeface="Cambria" pitchFamily="18" charset="0"/>
              <a:ea typeface="Cambria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Reviews ML and deep learning techniques for monitoring electrical equipment like motors and transformers.</a:t>
            </a:r>
          </a:p>
          <a:p>
            <a:pPr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Shows multi-sensor fusion improves fault detection accuracy and reliability.</a:t>
            </a:r>
          </a:p>
          <a:p>
            <a:pPr>
              <a:buFont typeface="Arial" pitchFamily="34" charset="0"/>
              <a:buChar char="•"/>
            </a:pPr>
            <a:r>
              <a:rPr lang="en-US" sz="1750" dirty="0" smtClean="0">
                <a:latin typeface="Cambria" pitchFamily="18" charset="0"/>
                <a:ea typeface="Cambria" pitchFamily="18" charset="0"/>
              </a:rPr>
              <a:t>Identifies challenges such as data quality, model </a:t>
            </a:r>
            <a:r>
              <a:rPr lang="en-US" sz="1750" dirty="0" err="1" smtClean="0">
                <a:latin typeface="Cambria" pitchFamily="18" charset="0"/>
                <a:ea typeface="Cambria" pitchFamily="18" charset="0"/>
              </a:rPr>
              <a:t>overfitting</a:t>
            </a:r>
            <a:r>
              <a:rPr lang="en-US" sz="1750" dirty="0" smtClean="0">
                <a:latin typeface="Cambria" pitchFamily="18" charset="0"/>
                <a:ea typeface="Cambria" pitchFamily="18" charset="0"/>
              </a:rPr>
              <a:t>, and system complexity. </a:t>
            </a:r>
          </a:p>
          <a:p>
            <a:endParaRPr lang="en-US" sz="1750" dirty="0">
              <a:latin typeface="Cambria" pitchFamily="18" charset="0"/>
              <a:ea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>
                <a:latin typeface="+mj-lt"/>
              </a:rPr>
              <a:t>Literature </a:t>
            </a:r>
            <a:r>
              <a:rPr lang="en-US" dirty="0" smtClean="0">
                <a:latin typeface="+mj-lt"/>
              </a:rPr>
              <a:t>Survey</a:t>
            </a:r>
            <a:endParaRPr lang="en-US" dirty="0">
              <a:latin typeface="+mj-lt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4294967295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 smtClean="0">
                <a:latin typeface="+mn-lt"/>
                <a:ea typeface="Cambria" panose="02040503050406030204" pitchFamily="18" charset="0"/>
              </a:rPr>
              <a:t> </a:t>
            </a:r>
            <a:endParaRPr dirty="0">
              <a:latin typeface="+mn-lt"/>
              <a:ea typeface="Cambria" panose="02040503050406030204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0465" y="1126068"/>
          <a:ext cx="10930470" cy="44958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805510"/>
                <a:gridCol w="1824992"/>
                <a:gridCol w="1824992"/>
                <a:gridCol w="1824992"/>
                <a:gridCol w="1824992"/>
                <a:gridCol w="1824992"/>
              </a:tblGrid>
              <a:tr h="94240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Title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Existing Research (Authors)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Ref / Year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Methodology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Evaluation Metrics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Open Research Issues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28774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AI-Powered Predictive Maintenance System for Industrial Equipment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Abdul Aziz,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Sowmyashree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P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2025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Hybrid AI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PdM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using sensor data,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Autoencoder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for anomaly detection, Gradient Boosting and LSTM for failure prediction, Hybrid health index generation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Precision, Recall, F1-score, Remaining Useful Life (RUL) MAE, downtime reduction, false alarm rate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Limited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labelled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failure data, heterogeneous sensor data integration, real-time deployment challenges, lack of explainable AI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28774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A Review on Machinery Diagnostics and Prognostics Implementing Condition-Based Maintenance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Andrew K.S.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Jardine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Daming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Lin,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Dragan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Banjevic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2006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Condition-Based Maintenance framework involving data acquisition, signal processing, diagnostics and prognostics techniques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Reliability improvement, maintenance cost reduction, fault detection accuracy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Multi-sensor data fusion complexity, lack of standardized frameworks, real-time analytics limitations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97790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Comparing Deep Learning and Fourier Series Models for Equipment Failure Prediction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Houria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Abouloifa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, Mohamed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Bahaj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2025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Comparative predictive maintenance using Fourier series signal model and LSTM deep learning time-series prediction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MAE, MSE, RMSE, statistical significance testing, confidence interval validation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Lack of real industrial datasets, computational cost of DL models, integration difficulties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00045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219200"/>
          <a:ext cx="10972800" cy="4504266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88330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Title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Existing Research (Authors)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Ref / Year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Methodology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Evaluation Metrics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20698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Comparison of Deep Learning Models for Predictive Maintenance in Industrial Manufacturing Systems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Wenjun Li, Ting Li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2025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Deep learning PdM using CNN, LSTM and CNN-LSTM hybrid architectures for failure prediction and RUL estimation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Accuracy, F1-score, model robustness, generalization performance, feature importance analysis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20698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Condition Monitoring and Predictive Maintenance in Industrial Equipment: NLP-Assisted Review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Jose Garcia, Luis Rios-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Colque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, Alvaro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Peña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, Luis Rojas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2025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NLP-based systematic literature review including ML, DL, signal processing methods (FFT, Wavelets, CEEMDAN) and hybrid physics-data models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Fault detection accuracy, RUL accuracy, deployment feasibility, energy efficiency improvement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20698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IoT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Based Predictive Maintenance in Industrial Machinery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Himmat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Singh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2025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IoT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PdM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architecture using sensor networks, cloud analytics, ML-based failure prediction and real-time monitoring dashboard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Reliability improvement, maintenance cost reduction, breakdown reduction, equipment lifespan improvement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430887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838200" y="304800"/>
            <a:ext cx="103632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17365D"/>
                </a:solidFill>
                <a:effectLst/>
                <a:uLnTx/>
                <a:uFillTx/>
                <a:latin typeface="Cambria"/>
                <a:ea typeface="+mj-ea"/>
                <a:cs typeface="Cambria"/>
              </a:rPr>
              <a:t>Literature Survey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17365D"/>
              </a:solidFill>
              <a:effectLst/>
              <a:uLnTx/>
              <a:uFillTx/>
              <a:latin typeface="Cambria"/>
              <a:ea typeface="+mj-e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6800" y="1219200"/>
          <a:ext cx="10507130" cy="4326468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101426"/>
                <a:gridCol w="2101426"/>
                <a:gridCol w="2101426"/>
                <a:gridCol w="2101426"/>
                <a:gridCol w="2101426"/>
              </a:tblGrid>
              <a:tr h="84844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Title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Existing Research (Authors)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Ref / Year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Methodology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Evaluation Metrics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15934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Machine Learning-Based Predictive Maintenance of Industrial Machines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Chaitali Patil, Sanika Jadhav, Asmeeta Bardiya, Ankita Davande, Mahee Raverkar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2023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ML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PdM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system using Random Forest, SVM and Decision Tree, sensor monitoring, edge-cloud processing, alert generation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Prediction accuracy, feature selection performance, downtime reduction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15934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Predictive Maintenance using Machine Learning in Industrial IoT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Jesu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Narkarunai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Arasu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Malaiyappan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Gowrisankar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Krishnamoorthy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Suhas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Jangoan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2024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ML &amp; DL techniques in IIoT including ANN models, deep learning prediction, real-time stream processing, cyber-physical system integration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Prediction latency, system reliability, real-time processing efficiency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15934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A Review of Predictive Maintenance Methods for Electrical Machines Using ML Algorithms and Sensor Data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Nandni Sharma, Cheshtha Chauhan, Anju Dwivedi, Sanchita Dass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2025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ML-based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PdM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using Motor Current Signature Analysis, multi-sensor fusion, SVM, Random Forest, CNN, LSTM models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Accuracy, Precision, Recall, multi-modal sensor performance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430887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990600" y="304800"/>
            <a:ext cx="103632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17365D"/>
                </a:solidFill>
                <a:effectLst/>
                <a:uLnTx/>
                <a:uFillTx/>
                <a:latin typeface="Cambria"/>
                <a:ea typeface="+mj-ea"/>
                <a:cs typeface="Cambria"/>
              </a:rPr>
              <a:t>Literature Survey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17365D"/>
              </a:solidFill>
              <a:effectLst/>
              <a:uLnTx/>
              <a:uFillTx/>
              <a:latin typeface="Cambria"/>
              <a:ea typeface="+mj-e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641" y="260680"/>
            <a:ext cx="6004559" cy="430887"/>
          </a:xfrm>
        </p:spPr>
        <p:txBody>
          <a:bodyPr/>
          <a:lstStyle/>
          <a:p>
            <a:r>
              <a:rPr lang="en-US" dirty="0" smtClean="0"/>
              <a:t>Base Papers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6444" y="1167130"/>
            <a:ext cx="11015980" cy="1107996"/>
          </a:xfrm>
        </p:spPr>
        <p:txBody>
          <a:bodyPr/>
          <a:lstStyle/>
          <a:p>
            <a:r>
              <a:rPr lang="en-US" dirty="0" smtClean="0"/>
              <a:t>Li, W., Li, T. Comparison of deep learning models for predictive maintenance in industrial manufacturing systems using sensor data. </a:t>
            </a:r>
            <a:r>
              <a:rPr lang="en-US" i="1" dirty="0" err="1" smtClean="0"/>
              <a:t>Sci</a:t>
            </a:r>
            <a:r>
              <a:rPr lang="en-US" i="1" dirty="0" smtClean="0"/>
              <a:t> Rep</a:t>
            </a:r>
            <a:r>
              <a:rPr lang="en-US" dirty="0" smtClean="0"/>
              <a:t> </a:t>
            </a:r>
            <a:r>
              <a:rPr lang="en-US" b="1" dirty="0" smtClean="0"/>
              <a:t>15</a:t>
            </a:r>
            <a:r>
              <a:rPr lang="en-US" dirty="0" smtClean="0"/>
              <a:t>, 23545 (2025). </a:t>
            </a:r>
            <a:r>
              <a:rPr lang="en-US" dirty="0" smtClean="0">
                <a:hlinkClick r:id="rId2"/>
              </a:rPr>
              <a:t>https://doi.org/10.1038/s41598-025-08515-z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Methodology</a:t>
            </a:r>
            <a:r>
              <a:rPr spc="-6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Drawbacks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803378"/>
            <a:ext cx="10896600" cy="5398273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750" b="1" dirty="0" smtClean="0">
                <a:latin typeface="Cambria" pitchFamily="18" charset="0"/>
                <a:ea typeface="Cambria" pitchFamily="18" charset="0"/>
              </a:rPr>
              <a:t>Data </a:t>
            </a:r>
            <a:r>
              <a:rPr lang="en-US" sz="1750" b="1" dirty="0">
                <a:latin typeface="Cambria" pitchFamily="18" charset="0"/>
                <a:ea typeface="Cambria" pitchFamily="18" charset="0"/>
              </a:rPr>
              <a:t>Acquisition &amp; Preprocessing</a:t>
            </a:r>
            <a:endParaRPr lang="en-US" sz="1750" dirty="0">
              <a:latin typeface="Cambria" pitchFamily="18" charset="0"/>
              <a:ea typeface="Cambria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1750" dirty="0">
                <a:latin typeface="Cambria" pitchFamily="18" charset="0"/>
                <a:ea typeface="Cambria" pitchFamily="18" charset="0"/>
              </a:rPr>
              <a:t>Three public datasets: rotary machinery, milling machine, hydraulic system</a:t>
            </a:r>
          </a:p>
          <a:p>
            <a:pPr lvl="1">
              <a:buFont typeface="Arial" pitchFamily="34" charset="0"/>
              <a:buChar char="•"/>
            </a:pPr>
            <a:r>
              <a:rPr lang="en-US" sz="1750" dirty="0">
                <a:latin typeface="Cambria" pitchFamily="18" charset="0"/>
                <a:ea typeface="Cambria" pitchFamily="18" charset="0"/>
              </a:rPr>
              <a:t>Data cleaning, normalization, feature extraction (time/frequency domains</a:t>
            </a:r>
            <a:r>
              <a:rPr lang="en-US" sz="1750" dirty="0" smtClean="0">
                <a:latin typeface="Cambria" pitchFamily="18" charset="0"/>
                <a:ea typeface="Cambria" pitchFamily="18" charset="0"/>
              </a:rPr>
              <a:t>)</a:t>
            </a:r>
          </a:p>
          <a:p>
            <a:pPr lvl="1">
              <a:buFont typeface="Arial" pitchFamily="34" charset="0"/>
              <a:buChar char="•"/>
            </a:pPr>
            <a:endParaRPr lang="en-US" sz="1750" dirty="0">
              <a:latin typeface="Cambria" pitchFamily="18" charset="0"/>
              <a:ea typeface="Cambria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750" b="1" dirty="0">
                <a:latin typeface="Cambria" pitchFamily="18" charset="0"/>
                <a:ea typeface="Cambria" pitchFamily="18" charset="0"/>
              </a:rPr>
              <a:t>Model Construction</a:t>
            </a:r>
            <a:endParaRPr lang="en-US" sz="1750" dirty="0">
              <a:latin typeface="Cambria" pitchFamily="18" charset="0"/>
              <a:ea typeface="Cambria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1750" dirty="0">
                <a:latin typeface="Cambria" pitchFamily="18" charset="0"/>
                <a:ea typeface="Cambria" pitchFamily="18" charset="0"/>
              </a:rPr>
              <a:t>CNN (1D/2D </a:t>
            </a:r>
            <a:r>
              <a:rPr lang="en-US" sz="1750" dirty="0" err="1">
                <a:latin typeface="Cambria" pitchFamily="18" charset="0"/>
                <a:ea typeface="Cambria" pitchFamily="18" charset="0"/>
              </a:rPr>
              <a:t>convolutional</a:t>
            </a:r>
            <a:r>
              <a:rPr lang="en-US" sz="1750" dirty="0">
                <a:latin typeface="Cambria" pitchFamily="18" charset="0"/>
                <a:ea typeface="Cambria" pitchFamily="18" charset="0"/>
              </a:rPr>
              <a:t> networks for spatial features)</a:t>
            </a:r>
          </a:p>
          <a:p>
            <a:pPr lvl="1">
              <a:buFont typeface="Arial" pitchFamily="34" charset="0"/>
              <a:buChar char="•"/>
            </a:pPr>
            <a:r>
              <a:rPr lang="en-US" sz="1750" dirty="0">
                <a:latin typeface="Cambria" pitchFamily="18" charset="0"/>
                <a:ea typeface="Cambria" pitchFamily="18" charset="0"/>
              </a:rPr>
              <a:t>LSTM (for temporal sequence modeling)</a:t>
            </a:r>
          </a:p>
          <a:p>
            <a:pPr lvl="1">
              <a:buFont typeface="Arial" pitchFamily="34" charset="0"/>
              <a:buChar char="•"/>
            </a:pPr>
            <a:r>
              <a:rPr lang="en-US" sz="1750" dirty="0">
                <a:latin typeface="Cambria" pitchFamily="18" charset="0"/>
                <a:ea typeface="Cambria" pitchFamily="18" charset="0"/>
              </a:rPr>
              <a:t>CNN-LSTM hybrid (combined architecture</a:t>
            </a:r>
            <a:r>
              <a:rPr lang="en-US" sz="1750" dirty="0" smtClean="0">
                <a:latin typeface="Cambria" pitchFamily="18" charset="0"/>
                <a:ea typeface="Cambria" pitchFamily="18" charset="0"/>
              </a:rPr>
              <a:t>)</a:t>
            </a:r>
          </a:p>
          <a:p>
            <a:pPr lvl="1">
              <a:buFont typeface="Arial" pitchFamily="34" charset="0"/>
              <a:buChar char="•"/>
            </a:pPr>
            <a:endParaRPr lang="en-US" sz="1750" dirty="0">
              <a:latin typeface="Cambria" pitchFamily="18" charset="0"/>
              <a:ea typeface="Cambria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750" b="1" dirty="0">
                <a:latin typeface="Cambria" pitchFamily="18" charset="0"/>
                <a:ea typeface="Cambria" pitchFamily="18" charset="0"/>
              </a:rPr>
              <a:t>Training &amp; Evaluation</a:t>
            </a:r>
            <a:endParaRPr lang="en-US" sz="1750" dirty="0">
              <a:latin typeface="Cambria" pitchFamily="18" charset="0"/>
              <a:ea typeface="Cambria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1750" dirty="0">
                <a:latin typeface="Cambria" pitchFamily="18" charset="0"/>
                <a:ea typeface="Cambria" pitchFamily="18" charset="0"/>
              </a:rPr>
              <a:t>70/15/15 train/validation/test split</a:t>
            </a:r>
          </a:p>
          <a:p>
            <a:pPr lvl="1">
              <a:buFont typeface="Arial" pitchFamily="34" charset="0"/>
              <a:buChar char="•"/>
            </a:pPr>
            <a:r>
              <a:rPr lang="en-US" sz="1750" dirty="0">
                <a:latin typeface="Cambria" pitchFamily="18" charset="0"/>
                <a:ea typeface="Cambria" pitchFamily="18" charset="0"/>
              </a:rPr>
              <a:t>Adam optimizer, </a:t>
            </a:r>
            <a:r>
              <a:rPr lang="en-US" sz="1750" dirty="0" err="1">
                <a:latin typeface="Cambria" pitchFamily="18" charset="0"/>
                <a:ea typeface="Cambria" pitchFamily="18" charset="0"/>
              </a:rPr>
              <a:t>hyperparameter</a:t>
            </a:r>
            <a:r>
              <a:rPr lang="en-US" sz="1750" dirty="0">
                <a:latin typeface="Cambria" pitchFamily="18" charset="0"/>
                <a:ea typeface="Cambria" pitchFamily="18" charset="0"/>
              </a:rPr>
              <a:t> tuning</a:t>
            </a:r>
          </a:p>
          <a:p>
            <a:pPr lvl="1">
              <a:buFont typeface="Arial" pitchFamily="34" charset="0"/>
              <a:buChar char="•"/>
            </a:pPr>
            <a:r>
              <a:rPr lang="en-US" sz="1750" dirty="0">
                <a:latin typeface="Cambria" pitchFamily="18" charset="0"/>
                <a:ea typeface="Cambria" pitchFamily="18" charset="0"/>
              </a:rPr>
              <a:t>Metrics: Accuracy, Precision, Recall, F1-score, MAE, RMSE</a:t>
            </a:r>
          </a:p>
          <a:p>
            <a:pPr lvl="1">
              <a:buFont typeface="Arial" pitchFamily="34" charset="0"/>
              <a:buChar char="•"/>
            </a:pPr>
            <a:r>
              <a:rPr lang="en-US" sz="1750" dirty="0">
                <a:latin typeface="Cambria" pitchFamily="18" charset="0"/>
                <a:ea typeface="Cambria" pitchFamily="18" charset="0"/>
              </a:rPr>
              <a:t>Ablation studies and feature importance </a:t>
            </a:r>
            <a:r>
              <a:rPr lang="en-US" sz="1750" dirty="0" smtClean="0">
                <a:latin typeface="Cambria" pitchFamily="18" charset="0"/>
                <a:ea typeface="Cambria" pitchFamily="18" charset="0"/>
              </a:rPr>
              <a:t>analysis</a:t>
            </a:r>
          </a:p>
          <a:p>
            <a:pPr lvl="1"/>
            <a:endParaRPr lang="en-US" sz="1750" dirty="0">
              <a:latin typeface="Cambria" pitchFamily="18" charset="0"/>
              <a:ea typeface="Cambria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750" b="1" dirty="0">
                <a:latin typeface="Cambria" pitchFamily="18" charset="0"/>
                <a:ea typeface="Cambria" pitchFamily="18" charset="0"/>
              </a:rPr>
              <a:t>Experimental Setup:</a:t>
            </a:r>
            <a:endParaRPr lang="en-US" sz="1750" dirty="0">
              <a:latin typeface="Cambria" pitchFamily="18" charset="0"/>
              <a:ea typeface="Cambria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1750" dirty="0">
                <a:latin typeface="Cambria" pitchFamily="18" charset="0"/>
                <a:ea typeface="Cambria" pitchFamily="18" charset="0"/>
              </a:rPr>
              <a:t>High-performance computing (NVIDIA Tesla V100)</a:t>
            </a:r>
          </a:p>
          <a:p>
            <a:pPr>
              <a:buFont typeface="Arial" pitchFamily="34" charset="0"/>
              <a:buChar char="•"/>
            </a:pPr>
            <a:r>
              <a:rPr lang="en-US" sz="1750" dirty="0" err="1">
                <a:latin typeface="Cambria" pitchFamily="18" charset="0"/>
                <a:ea typeface="Cambria" pitchFamily="18" charset="0"/>
              </a:rPr>
              <a:t>TensorFlow</a:t>
            </a:r>
            <a:r>
              <a:rPr lang="en-US" sz="1750" dirty="0">
                <a:latin typeface="Cambria" pitchFamily="18" charset="0"/>
                <a:ea typeface="Cambria" pitchFamily="18" charset="0"/>
              </a:rPr>
              <a:t> 2.4 implementation</a:t>
            </a:r>
          </a:p>
          <a:p>
            <a:pPr>
              <a:buFont typeface="Arial" pitchFamily="34" charset="0"/>
              <a:buChar char="•"/>
            </a:pPr>
            <a:r>
              <a:rPr lang="en-US" sz="1750" dirty="0">
                <a:latin typeface="Cambria" pitchFamily="18" charset="0"/>
                <a:ea typeface="Cambria" pitchFamily="18" charset="0"/>
              </a:rPr>
              <a:t>Five independent runs for statistical significance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Methodology</a:t>
            </a:r>
            <a:r>
              <a:rPr spc="-6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Drawbacks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4364" y="1066800"/>
            <a:ext cx="10619436" cy="444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b="1" dirty="0">
                <a:latin typeface="Cambria" pitchFamily="18" charset="0"/>
                <a:ea typeface="Cambria" pitchFamily="18" charset="0"/>
              </a:rPr>
              <a:t>Interpretability </a:t>
            </a:r>
            <a:r>
              <a:rPr lang="en-US" b="1" dirty="0" smtClean="0">
                <a:latin typeface="Cambria" pitchFamily="18" charset="0"/>
                <a:ea typeface="Cambria" pitchFamily="18" charset="0"/>
              </a:rPr>
              <a:t>Issues</a:t>
            </a:r>
            <a:endParaRPr lang="en-US" dirty="0">
              <a:latin typeface="Cambria" pitchFamily="18" charset="0"/>
              <a:ea typeface="Cambria" pitchFamily="18" charset="0"/>
            </a:endParaRPr>
          </a:p>
          <a:p>
            <a:pPr lvl="8" algn="just"/>
            <a:r>
              <a:rPr lang="en-US" dirty="0" smtClean="0">
                <a:latin typeface="Cambria" pitchFamily="18" charset="0"/>
                <a:ea typeface="Cambria" pitchFamily="18" charset="0"/>
              </a:rPr>
              <a:t>	Black-box </a:t>
            </a:r>
            <a:r>
              <a:rPr lang="en-US" dirty="0">
                <a:latin typeface="Cambria" pitchFamily="18" charset="0"/>
                <a:ea typeface="Cambria" pitchFamily="18" charset="0"/>
              </a:rPr>
              <a:t>model behavior hinders trust in industrial settings</a:t>
            </a:r>
          </a:p>
          <a:p>
            <a:pPr lvl="8" algn="just"/>
            <a:r>
              <a:rPr lang="en-US" dirty="0" smtClean="0">
                <a:latin typeface="Cambria" pitchFamily="18" charset="0"/>
                <a:ea typeface="Cambria" pitchFamily="18" charset="0"/>
              </a:rPr>
              <a:t>	Difficult </a:t>
            </a:r>
            <a:r>
              <a:rPr lang="en-US" dirty="0">
                <a:latin typeface="Cambria" pitchFamily="18" charset="0"/>
                <a:ea typeface="Cambria" pitchFamily="18" charset="0"/>
              </a:rPr>
              <a:t>to explain predictions to maintenance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engineers</a:t>
            </a:r>
          </a:p>
          <a:p>
            <a:pPr marL="342900" lvl="1" indent="-342900" algn="just">
              <a:buFont typeface="Arial" pitchFamily="34" charset="0"/>
              <a:buChar char="•"/>
            </a:pPr>
            <a:endParaRPr lang="en-US" dirty="0">
              <a:latin typeface="Cambria" pitchFamily="18" charset="0"/>
              <a:ea typeface="Cambria" pitchFamily="18" charset="0"/>
            </a:endParaRP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b="1" dirty="0">
                <a:latin typeface="Cambria" pitchFamily="18" charset="0"/>
                <a:ea typeface="Cambria" pitchFamily="18" charset="0"/>
              </a:rPr>
              <a:t>Data Dependency</a:t>
            </a:r>
            <a:endParaRPr lang="en-US" dirty="0">
              <a:latin typeface="Cambria" pitchFamily="18" charset="0"/>
              <a:ea typeface="Cambria" pitchFamily="18" charset="0"/>
            </a:endParaRPr>
          </a:p>
          <a:p>
            <a:pPr lvl="3" algn="just"/>
            <a:r>
              <a:rPr lang="en-US" dirty="0" smtClean="0">
                <a:latin typeface="Cambria" pitchFamily="18" charset="0"/>
                <a:ea typeface="Cambria" pitchFamily="18" charset="0"/>
              </a:rPr>
              <a:t>	Requires </a:t>
            </a:r>
            <a:r>
              <a:rPr lang="en-US" dirty="0">
                <a:latin typeface="Cambria" pitchFamily="18" charset="0"/>
                <a:ea typeface="Cambria" pitchFamily="18" charset="0"/>
              </a:rPr>
              <a:t>extensive labeled failure data for training</a:t>
            </a:r>
          </a:p>
          <a:p>
            <a:pPr lvl="1" algn="just"/>
            <a:r>
              <a:rPr lang="en-US" dirty="0" smtClean="0">
                <a:latin typeface="Cambria" pitchFamily="18" charset="0"/>
                <a:ea typeface="Cambria" pitchFamily="18" charset="0"/>
              </a:rPr>
              <a:t>	Performance </a:t>
            </a:r>
            <a:r>
              <a:rPr lang="en-US" dirty="0">
                <a:latin typeface="Cambria" pitchFamily="18" charset="0"/>
                <a:ea typeface="Cambria" pitchFamily="18" charset="0"/>
              </a:rPr>
              <a:t>sensitive to data quality and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completeness</a:t>
            </a:r>
          </a:p>
          <a:p>
            <a:pPr lvl="1" algn="just">
              <a:buFont typeface="Arial" pitchFamily="34" charset="0"/>
              <a:buChar char="•"/>
            </a:pPr>
            <a:endParaRPr lang="en-US" dirty="0">
              <a:latin typeface="Cambria" pitchFamily="18" charset="0"/>
              <a:ea typeface="Cambria" pitchFamily="18" charset="0"/>
            </a:endParaRP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b="1" dirty="0">
                <a:latin typeface="Cambria" pitchFamily="18" charset="0"/>
                <a:ea typeface="Cambria" pitchFamily="18" charset="0"/>
              </a:rPr>
              <a:t>Deployment Challenges</a:t>
            </a:r>
            <a:endParaRPr lang="en-US" dirty="0">
              <a:latin typeface="Cambria" pitchFamily="18" charset="0"/>
              <a:ea typeface="Cambria" pitchFamily="18" charset="0"/>
            </a:endParaRPr>
          </a:p>
          <a:p>
            <a:pPr lvl="1" algn="just"/>
            <a:r>
              <a:rPr lang="en-US" dirty="0" smtClean="0">
                <a:latin typeface="Cambria" pitchFamily="18" charset="0"/>
                <a:ea typeface="Cambria" pitchFamily="18" charset="0"/>
              </a:rPr>
              <a:t>	Complex </a:t>
            </a:r>
            <a:r>
              <a:rPr lang="en-US" dirty="0">
                <a:latin typeface="Cambria" pitchFamily="18" charset="0"/>
                <a:ea typeface="Cambria" pitchFamily="18" charset="0"/>
              </a:rPr>
              <a:t>integration with existing maintenance systems</a:t>
            </a:r>
          </a:p>
          <a:p>
            <a:pPr lvl="1" algn="just"/>
            <a:r>
              <a:rPr lang="en-US" dirty="0" smtClean="0">
                <a:latin typeface="Cambria" pitchFamily="18" charset="0"/>
                <a:ea typeface="Cambria" pitchFamily="18" charset="0"/>
              </a:rPr>
              <a:t>	High </a:t>
            </a:r>
            <a:r>
              <a:rPr lang="en-US" dirty="0">
                <a:latin typeface="Cambria" pitchFamily="18" charset="0"/>
                <a:ea typeface="Cambria" pitchFamily="18" charset="0"/>
              </a:rPr>
              <a:t>computational requirements for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training</a:t>
            </a:r>
          </a:p>
          <a:p>
            <a:pPr lvl="1" algn="just">
              <a:buFont typeface="Arial" pitchFamily="34" charset="0"/>
              <a:buChar char="•"/>
            </a:pPr>
            <a:endParaRPr lang="en-US" dirty="0">
              <a:latin typeface="Cambria" pitchFamily="18" charset="0"/>
              <a:ea typeface="Cambria" pitchFamily="18" charset="0"/>
            </a:endParaRP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b="1" dirty="0">
                <a:latin typeface="Cambria" pitchFamily="18" charset="0"/>
                <a:ea typeface="Cambria" pitchFamily="18" charset="0"/>
              </a:rPr>
              <a:t>Generalization Concerns</a:t>
            </a:r>
            <a:endParaRPr lang="en-US" dirty="0">
              <a:latin typeface="Cambria" pitchFamily="18" charset="0"/>
              <a:ea typeface="Cambria" pitchFamily="18" charset="0"/>
            </a:endParaRPr>
          </a:p>
          <a:p>
            <a:pPr lvl="1" algn="just"/>
            <a:r>
              <a:rPr lang="en-US" dirty="0" smtClean="0">
                <a:latin typeface="Cambria" pitchFamily="18" charset="0"/>
                <a:ea typeface="Cambria" pitchFamily="18" charset="0"/>
              </a:rPr>
              <a:t>	Models </a:t>
            </a:r>
            <a:r>
              <a:rPr lang="en-US" dirty="0">
                <a:latin typeface="Cambria" pitchFamily="18" charset="0"/>
                <a:ea typeface="Cambria" pitchFamily="18" charset="0"/>
              </a:rPr>
              <a:t>optimized for specific datasets/equipment types</a:t>
            </a:r>
          </a:p>
          <a:p>
            <a:pPr lvl="1" algn="just"/>
            <a:r>
              <a:rPr lang="en-US" dirty="0" smtClean="0">
                <a:latin typeface="Cambria" pitchFamily="18" charset="0"/>
                <a:ea typeface="Cambria" pitchFamily="18" charset="0"/>
              </a:rPr>
              <a:t>	Limited </a:t>
            </a:r>
            <a:r>
              <a:rPr lang="en-US" dirty="0">
                <a:latin typeface="Cambria" pitchFamily="18" charset="0"/>
                <a:ea typeface="Cambria" pitchFamily="18" charset="0"/>
              </a:rPr>
              <a:t>testing on diverse real-world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environments</a:t>
            </a:r>
          </a:p>
          <a:p>
            <a:pPr lvl="1" algn="just"/>
            <a:endParaRPr lang="en-US" dirty="0">
              <a:latin typeface="Cambria" pitchFamily="18" charset="0"/>
              <a:ea typeface="Cambria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641" y="260680"/>
            <a:ext cx="6004559" cy="430887"/>
          </a:xfrm>
        </p:spPr>
        <p:txBody>
          <a:bodyPr/>
          <a:lstStyle/>
          <a:p>
            <a:r>
              <a:rPr lang="en-US" dirty="0" smtClean="0"/>
              <a:t> Research Gap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6444" y="1167130"/>
            <a:ext cx="11015980" cy="3323987"/>
          </a:xfrm>
        </p:spPr>
        <p:txBody>
          <a:bodyPr/>
          <a:lstStyle/>
          <a:p>
            <a:r>
              <a:rPr lang="en-US" b="1" dirty="0" smtClean="0">
                <a:latin typeface="Cambria" pitchFamily="18" charset="0"/>
                <a:ea typeface="Cambria" pitchFamily="18" charset="0"/>
              </a:rPr>
              <a:t> 1.Interpretability </a:t>
            </a:r>
            <a:r>
              <a:rPr lang="en-US" b="1" dirty="0" smtClean="0">
                <a:latin typeface="Cambria" pitchFamily="18" charset="0"/>
                <a:ea typeface="Cambria" pitchFamily="18" charset="0"/>
              </a:rPr>
              <a:t>Deficit in Deep Learning Models</a:t>
            </a:r>
          </a:p>
          <a:p>
            <a:r>
              <a:rPr lang="en-US" b="1" dirty="0" smtClean="0">
                <a:latin typeface="Cambria" pitchFamily="18" charset="0"/>
                <a:ea typeface="Cambria" pitchFamily="18" charset="0"/>
              </a:rPr>
              <a:t>Problem:</a:t>
            </a:r>
            <a:endParaRPr lang="en-US" dirty="0" smtClean="0">
              <a:latin typeface="Cambria" pitchFamily="18" charset="0"/>
              <a:ea typeface="Cambria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Cambria" pitchFamily="18" charset="0"/>
                <a:ea typeface="Cambria" pitchFamily="18" charset="0"/>
              </a:rPr>
              <a:t>Current CNN/LSTM models function as "black boxes" with limited explanation capability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Cambria" pitchFamily="18" charset="0"/>
                <a:ea typeface="Cambria" pitchFamily="18" charset="0"/>
              </a:rPr>
              <a:t>Maintenance engineers cannot understand </a:t>
            </a:r>
            <a:r>
              <a:rPr lang="en-US" i="1" dirty="0" smtClean="0">
                <a:latin typeface="Cambria" pitchFamily="18" charset="0"/>
                <a:ea typeface="Cambria" pitchFamily="18" charset="0"/>
              </a:rPr>
              <a:t>why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 a failure is predicted, reducing trust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Cambria" pitchFamily="18" charset="0"/>
                <a:ea typeface="Cambria" pitchFamily="18" charset="0"/>
              </a:rPr>
              <a:t>Regulatory and safety-critical industries require explainable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decisions</a:t>
            </a:r>
          </a:p>
          <a:p>
            <a:endParaRPr lang="en-US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b="1" dirty="0" smtClean="0">
                <a:latin typeface="Cambria" pitchFamily="18" charset="0"/>
                <a:ea typeface="Cambria" pitchFamily="18" charset="0"/>
              </a:rPr>
              <a:t>2</a:t>
            </a:r>
            <a:r>
              <a:rPr lang="en-US" b="1" dirty="0" smtClean="0">
                <a:latin typeface="Cambria" pitchFamily="18" charset="0"/>
                <a:ea typeface="Cambria" pitchFamily="18" charset="0"/>
              </a:rPr>
              <a:t>. Legacy System Integration Challenge</a:t>
            </a:r>
          </a:p>
          <a:p>
            <a:r>
              <a:rPr lang="en-US" b="1" dirty="0" smtClean="0">
                <a:latin typeface="Cambria" pitchFamily="18" charset="0"/>
                <a:ea typeface="Cambria" pitchFamily="18" charset="0"/>
              </a:rPr>
              <a:t>Problem:</a:t>
            </a:r>
            <a:endParaRPr lang="en-US" dirty="0" smtClean="0">
              <a:latin typeface="Cambria" pitchFamily="18" charset="0"/>
              <a:ea typeface="Cambria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Cambria" pitchFamily="18" charset="0"/>
                <a:ea typeface="Cambria" pitchFamily="18" charset="0"/>
              </a:rPr>
              <a:t>Industrial environments have 20+ year old SCADA, PLC, and CMMS systems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Cambria" pitchFamily="18" charset="0"/>
                <a:ea typeface="Cambria" pitchFamily="18" charset="0"/>
              </a:rPr>
              <a:t>Proprietary protocols and data silos prevent seamless AI model integration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Cambria" pitchFamily="18" charset="0"/>
                <a:ea typeface="Cambria" pitchFamily="18" charset="0"/>
              </a:rPr>
              <a:t>Real-time inference requires bridging between modern Python/</a:t>
            </a:r>
            <a:r>
              <a:rPr lang="en-US" dirty="0" err="1" smtClean="0">
                <a:latin typeface="Cambria" pitchFamily="18" charset="0"/>
                <a:ea typeface="Cambria" pitchFamily="18" charset="0"/>
              </a:rPr>
              <a:t>TensorFlow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 and legacy industrial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networks</a:t>
            </a:r>
          </a:p>
          <a:p>
            <a:pPr algn="just">
              <a:buFont typeface="Arial" pitchFamily="34" charset="0"/>
              <a:buChar char="•"/>
            </a:pPr>
            <a:endParaRPr lang="en-US" dirty="0" smtClean="0">
              <a:latin typeface="Cambria" pitchFamily="18" charset="0"/>
              <a:ea typeface="Cambria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641" y="260680"/>
            <a:ext cx="6004559" cy="430887"/>
          </a:xfrm>
        </p:spPr>
        <p:txBody>
          <a:bodyPr/>
          <a:lstStyle/>
          <a:p>
            <a:r>
              <a:rPr lang="en-US" dirty="0" smtClean="0"/>
              <a:t>Proposed Solution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6444" y="1167130"/>
            <a:ext cx="11015980" cy="4924425"/>
          </a:xfrm>
        </p:spPr>
        <p:txBody>
          <a:bodyPr/>
          <a:lstStyle/>
          <a:p>
            <a:r>
              <a:rPr lang="en-US" sz="2000" b="1" dirty="0" smtClean="0">
                <a:latin typeface="Cambria" pitchFamily="18" charset="0"/>
                <a:ea typeface="Cambria" pitchFamily="18" charset="0"/>
              </a:rPr>
              <a:t>Advanced Deep Learning Architectures: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latin typeface="Cambria" pitchFamily="18" charset="0"/>
                <a:ea typeface="Cambria" pitchFamily="18" charset="0"/>
              </a:rPr>
              <a:t>Transformer-Based Models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 (e.g., Time Series Transformers)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Self-attention mechanisms naturally provide feature importance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Can visualize attention weights across time and sensor 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channels</a:t>
            </a:r>
          </a:p>
          <a:p>
            <a:pPr lvl="1">
              <a:buFont typeface="Arial" pitchFamily="34" charset="0"/>
              <a:buChar char="•"/>
            </a:pPr>
            <a:endParaRPr lang="en-US" sz="2000" dirty="0" smtClean="0">
              <a:latin typeface="Cambria" pitchFamily="18" charset="0"/>
              <a:ea typeface="Cambria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latin typeface="Cambria" pitchFamily="18" charset="0"/>
                <a:ea typeface="Cambria" pitchFamily="18" charset="0"/>
              </a:rPr>
              <a:t>Explainable AI (XAI) Integrated Models:</a:t>
            </a:r>
            <a:endParaRPr lang="en-US" sz="2000" dirty="0" smtClean="0">
              <a:latin typeface="Cambria" pitchFamily="18" charset="0"/>
              <a:ea typeface="Cambria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2000" b="1" dirty="0" smtClean="0">
                <a:latin typeface="Cambria" pitchFamily="18" charset="0"/>
                <a:ea typeface="Cambria" pitchFamily="18" charset="0"/>
              </a:rPr>
              <a:t>SHAP-LSTM Hybrids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 (</a:t>
            </a:r>
            <a:r>
              <a:rPr lang="en-US" sz="2000" dirty="0" err="1" smtClean="0">
                <a:latin typeface="Cambria" pitchFamily="18" charset="0"/>
                <a:ea typeface="Cambria" pitchFamily="18" charset="0"/>
              </a:rPr>
              <a:t>SHapley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 Additive </a:t>
            </a:r>
            <a:r>
              <a:rPr lang="en-US" sz="2000" dirty="0" err="1" smtClean="0">
                <a:latin typeface="Cambria" pitchFamily="18" charset="0"/>
                <a:ea typeface="Cambria" pitchFamily="18" charset="0"/>
              </a:rPr>
              <a:t>exPlanations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)</a:t>
            </a:r>
          </a:p>
          <a:p>
            <a:pPr lvl="1">
              <a:buFont typeface="Arial" pitchFamily="34" charset="0"/>
              <a:buChar char="•"/>
            </a:pPr>
            <a:r>
              <a:rPr lang="en-US" sz="2000" b="1" dirty="0" smtClean="0">
                <a:latin typeface="Cambria" pitchFamily="18" charset="0"/>
                <a:ea typeface="Cambria" pitchFamily="18" charset="0"/>
              </a:rPr>
              <a:t>Grad-CAM CNNs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 for visualizing critical sensor regions</a:t>
            </a:r>
          </a:p>
          <a:p>
            <a:pPr lvl="1">
              <a:buFont typeface="Arial" pitchFamily="34" charset="0"/>
              <a:buChar char="•"/>
            </a:pPr>
            <a:r>
              <a:rPr lang="en-US" sz="2000" b="1" dirty="0" smtClean="0">
                <a:latin typeface="Cambria" pitchFamily="18" charset="0"/>
                <a:ea typeface="Cambria" pitchFamily="18" charset="0"/>
              </a:rPr>
              <a:t>Bayesian Neural Networks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 providing uncertainty 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quantification</a:t>
            </a:r>
          </a:p>
          <a:p>
            <a:pPr lvl="1">
              <a:buFont typeface="Arial" pitchFamily="34" charset="0"/>
              <a:buChar char="•"/>
            </a:pPr>
            <a:endParaRPr lang="en-US" sz="2000" dirty="0" smtClean="0">
              <a:latin typeface="Cambria" pitchFamily="18" charset="0"/>
              <a:ea typeface="Cambria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 err="1" smtClean="0">
                <a:latin typeface="Cambria" pitchFamily="18" charset="0"/>
                <a:ea typeface="Cambria" pitchFamily="18" charset="0"/>
              </a:rPr>
              <a:t>Neuro</a:t>
            </a:r>
            <a:r>
              <a:rPr lang="en-US" sz="2000" b="1" dirty="0" smtClean="0">
                <a:latin typeface="Cambria" pitchFamily="18" charset="0"/>
                <a:ea typeface="Cambria" pitchFamily="18" charset="0"/>
              </a:rPr>
              <a:t>-Symbolic AI Systems:</a:t>
            </a:r>
            <a:endParaRPr lang="en-US" sz="2000" dirty="0" smtClean="0">
              <a:latin typeface="Cambria" pitchFamily="18" charset="0"/>
              <a:ea typeface="Cambria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Combine deep learning with knowledge graphs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Map sensor patterns to known failure modes from maintenance logs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Generate human-readable explanations: "Bearing failure predicted due to increasing vibration at 2X RPM frequency"</a:t>
            </a:r>
          </a:p>
          <a:p>
            <a:endParaRPr lang="en-US" sz="2000" dirty="0">
              <a:latin typeface="Cambria" pitchFamily="18" charset="0"/>
              <a:ea typeface="Cambria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10"/>
              </a:spcBef>
            </a:pPr>
            <a:r>
              <a:rPr dirty="0"/>
              <a:t>Architecture</a:t>
            </a:r>
            <a:r>
              <a:rPr spc="-105" dirty="0"/>
              <a:t> </a:t>
            </a:r>
            <a:r>
              <a:rPr spc="-10" dirty="0"/>
              <a:t>Diagram</a:t>
            </a:r>
          </a:p>
        </p:txBody>
      </p:sp>
      <p:pic>
        <p:nvPicPr>
          <p:cNvPr id="8" name="Picture 2" descr="C:\Users\Admin\Downloads\Gemini_Generated_Image_j5s6l1j5s6l1j5s6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38200"/>
            <a:ext cx="12192000" cy="5257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17" name="Google Shape;115;p17"/>
          <p:cNvSpPr txBox="1">
            <a:spLocks noGrp="1"/>
          </p:cNvSpPr>
          <p:nvPr>
            <p:ph type="body" idx="4294967295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18" name="Google Shape;115;p17"/>
          <p:cNvSpPr txBox="1"/>
          <p:nvPr/>
        </p:nvSpPr>
        <p:spPr>
          <a:xfrm>
            <a:off x="806149" y="1667510"/>
            <a:ext cx="11605264" cy="1475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https://github.com/darshan99009/IST_27-Capstone_Project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Timeline</a:t>
            </a:r>
            <a:r>
              <a:rPr spc="-7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Project</a:t>
            </a:r>
            <a:r>
              <a:rPr spc="-35" dirty="0"/>
              <a:t> </a:t>
            </a:r>
            <a:r>
              <a:rPr dirty="0"/>
              <a:t>(Gantt</a:t>
            </a:r>
            <a:r>
              <a:rPr spc="-55" dirty="0"/>
              <a:t> </a:t>
            </a:r>
            <a:r>
              <a:rPr spc="-10" dirty="0"/>
              <a:t>Chart)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20239" y="1149096"/>
            <a:ext cx="8924925" cy="4767580"/>
            <a:chOff x="1920239" y="1149096"/>
            <a:chExt cx="8924925" cy="47675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9383" y="1158240"/>
              <a:ext cx="8906256" cy="47487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924811" y="1153668"/>
              <a:ext cx="8915400" cy="4758055"/>
            </a:xfrm>
            <a:custGeom>
              <a:avLst/>
              <a:gdLst/>
              <a:ahLst/>
              <a:cxnLst/>
              <a:rect l="l" t="t" r="r" b="b"/>
              <a:pathLst>
                <a:path w="8915400" h="4758055">
                  <a:moveTo>
                    <a:pt x="0" y="4757928"/>
                  </a:moveTo>
                  <a:lnTo>
                    <a:pt x="8915400" y="4757928"/>
                  </a:lnTo>
                  <a:lnTo>
                    <a:pt x="8915400" y="0"/>
                  </a:lnTo>
                  <a:lnTo>
                    <a:pt x="0" y="0"/>
                  </a:lnTo>
                  <a:lnTo>
                    <a:pt x="0" y="4757928"/>
                  </a:lnTo>
                  <a:close/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References</a:t>
            </a:r>
            <a:r>
              <a:rPr spc="-35" dirty="0"/>
              <a:t> </a:t>
            </a:r>
            <a:r>
              <a:rPr dirty="0"/>
              <a:t>(IEEE</a:t>
            </a:r>
            <a:r>
              <a:rPr spc="-70" dirty="0"/>
              <a:t> </a:t>
            </a:r>
            <a:r>
              <a:rPr dirty="0"/>
              <a:t>Paper</a:t>
            </a:r>
            <a:r>
              <a:rPr spc="-50" dirty="0"/>
              <a:t> </a:t>
            </a:r>
            <a:r>
              <a:rPr spc="-10" dirty="0"/>
              <a:t>format)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63" y="1200734"/>
            <a:ext cx="10340975" cy="3613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 smtClean="0"/>
              <a:t>[1] AI-Powered Predictive Maintenance System for Industrial Equipment: Reducing Downtime and Costs Through Sensor-Based Analytics, 2025.</a:t>
            </a:r>
          </a:p>
          <a:p>
            <a:endParaRPr lang="en-US" dirty="0" smtClean="0"/>
          </a:p>
          <a:p>
            <a:r>
              <a:rPr lang="en-US" dirty="0" smtClean="0"/>
              <a:t>[2] A. K. S. </a:t>
            </a:r>
            <a:r>
              <a:rPr lang="en-US" dirty="0" err="1" smtClean="0"/>
              <a:t>Jardine</a:t>
            </a:r>
            <a:r>
              <a:rPr lang="en-US" dirty="0" smtClean="0"/>
              <a:t>, D. Lin, and D. </a:t>
            </a:r>
            <a:r>
              <a:rPr lang="en-US" dirty="0" err="1" smtClean="0"/>
              <a:t>Banjevic</a:t>
            </a:r>
            <a:r>
              <a:rPr lang="en-US" dirty="0" smtClean="0"/>
              <a:t>, “A Review on Machinery Diagnostics and Prognostics Implementing Condition-Based Maintenance,” </a:t>
            </a:r>
            <a:r>
              <a:rPr lang="en-US" i="1" dirty="0" smtClean="0"/>
              <a:t>Mechanical Systems and Signal Processing</a:t>
            </a:r>
            <a:r>
              <a:rPr lang="en-US" dirty="0" smtClean="0"/>
              <a:t>, 2006. </a:t>
            </a:r>
          </a:p>
          <a:p>
            <a:endParaRPr lang="en-US" dirty="0" smtClean="0"/>
          </a:p>
          <a:p>
            <a:r>
              <a:rPr lang="en-US" dirty="0" smtClean="0"/>
              <a:t>[3] H. </a:t>
            </a:r>
            <a:r>
              <a:rPr lang="en-US" dirty="0" err="1" smtClean="0"/>
              <a:t>Abouloifa</a:t>
            </a:r>
            <a:r>
              <a:rPr lang="en-US" dirty="0" smtClean="0"/>
              <a:t> and M. </a:t>
            </a:r>
            <a:r>
              <a:rPr lang="en-US" dirty="0" err="1" smtClean="0"/>
              <a:t>Bahaj</a:t>
            </a:r>
            <a:r>
              <a:rPr lang="en-US" dirty="0" smtClean="0"/>
              <a:t>, “Comparing Deep Learning and Fourier Series Models for Equipment Failure Prediction in Predictive Industrial Maintenance 4.0,” </a:t>
            </a:r>
            <a:r>
              <a:rPr lang="en-US" i="1" dirty="0" smtClean="0"/>
              <a:t>Scientific Reports</a:t>
            </a:r>
            <a:r>
              <a:rPr lang="en-US" dirty="0" smtClean="0"/>
              <a:t>, 2025.</a:t>
            </a:r>
          </a:p>
          <a:p>
            <a:endParaRPr lang="en-US" dirty="0" smtClean="0"/>
          </a:p>
          <a:p>
            <a:r>
              <a:rPr lang="en-US" dirty="0" smtClean="0"/>
              <a:t>[4] W. Li and T. Li, “Comparison of Deep Learning Models for Predictive Maintenance in Industrial Manufacturing Systems Using Sensor Data,” </a:t>
            </a:r>
            <a:r>
              <a:rPr lang="en-US" i="1" dirty="0" smtClean="0"/>
              <a:t>Scientific Reports</a:t>
            </a:r>
            <a:r>
              <a:rPr lang="en-US" dirty="0" smtClean="0"/>
              <a:t>, 2025.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641" y="260680"/>
            <a:ext cx="6004559" cy="430887"/>
          </a:xfrm>
        </p:spPr>
        <p:txBody>
          <a:bodyPr/>
          <a:lstStyle/>
          <a:p>
            <a:r>
              <a:rPr lang="en-US" dirty="0" smtClean="0"/>
              <a:t>References</a:t>
            </a:r>
            <a:r>
              <a:rPr lang="en-US" spc="-35" dirty="0" smtClean="0"/>
              <a:t> </a:t>
            </a:r>
            <a:r>
              <a:rPr lang="en-US" dirty="0" smtClean="0"/>
              <a:t>(IEEE</a:t>
            </a:r>
            <a:r>
              <a:rPr lang="en-US" spc="-70" dirty="0" smtClean="0"/>
              <a:t> </a:t>
            </a:r>
            <a:r>
              <a:rPr lang="en-US" dirty="0" smtClean="0"/>
              <a:t>Paper</a:t>
            </a:r>
            <a:r>
              <a:rPr lang="en-US" spc="-50" dirty="0" smtClean="0"/>
              <a:t> </a:t>
            </a:r>
            <a:r>
              <a:rPr lang="en-US" spc="-10" dirty="0" smtClean="0"/>
              <a:t>format)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6444" y="1167130"/>
            <a:ext cx="11015980" cy="4154984"/>
          </a:xfrm>
        </p:spPr>
        <p:txBody>
          <a:bodyPr/>
          <a:lstStyle/>
          <a:p>
            <a:r>
              <a:rPr lang="en-US" dirty="0" smtClean="0"/>
              <a:t>[5</a:t>
            </a:r>
            <a:r>
              <a:rPr lang="en-US" dirty="0" smtClean="0"/>
              <a:t>] J. Garcia, L. Rios-</a:t>
            </a:r>
            <a:r>
              <a:rPr lang="en-US" dirty="0" err="1" smtClean="0"/>
              <a:t>Colque</a:t>
            </a:r>
            <a:r>
              <a:rPr lang="en-US" dirty="0" smtClean="0"/>
              <a:t>, A. </a:t>
            </a:r>
            <a:r>
              <a:rPr lang="en-US" dirty="0" err="1" smtClean="0"/>
              <a:t>Peña</a:t>
            </a:r>
            <a:r>
              <a:rPr lang="en-US" dirty="0" smtClean="0"/>
              <a:t>, and L. Rojas, “Condition Monitoring and Predictive Maintenance in Industrial Equipment: An NLP-Assisted Review of Signal Processing, Hybrid Models, and Implementation Challenges,”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[6] H. Singh, “</a:t>
            </a:r>
            <a:r>
              <a:rPr lang="en-US" dirty="0" err="1" smtClean="0"/>
              <a:t>IoT</a:t>
            </a:r>
            <a:r>
              <a:rPr lang="en-US" dirty="0" smtClean="0"/>
              <a:t>-Based Predictive Maintenance in Industrial Machinery,” </a:t>
            </a:r>
            <a:r>
              <a:rPr lang="en-US" i="1" dirty="0" smtClean="0"/>
              <a:t>International Journal for Modern Trends in Science and Technology</a:t>
            </a:r>
            <a:r>
              <a:rPr lang="en-US" dirty="0" smtClean="0"/>
              <a:t>, 2025.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[7] C. R. </a:t>
            </a:r>
            <a:r>
              <a:rPr lang="en-US" dirty="0" err="1" smtClean="0"/>
              <a:t>Patil</a:t>
            </a:r>
            <a:r>
              <a:rPr lang="en-US" dirty="0" smtClean="0"/>
              <a:t>, S. K. </a:t>
            </a:r>
            <a:r>
              <a:rPr lang="en-US" dirty="0" err="1" smtClean="0"/>
              <a:t>Jadhav</a:t>
            </a:r>
            <a:r>
              <a:rPr lang="en-US" dirty="0" smtClean="0"/>
              <a:t>, A. L. </a:t>
            </a:r>
            <a:r>
              <a:rPr lang="en-US" dirty="0" err="1" smtClean="0"/>
              <a:t>Bardiya</a:t>
            </a:r>
            <a:r>
              <a:rPr lang="en-US" dirty="0" smtClean="0"/>
              <a:t>, A. P. </a:t>
            </a:r>
            <a:r>
              <a:rPr lang="en-US" dirty="0" err="1" smtClean="0"/>
              <a:t>Davande</a:t>
            </a:r>
            <a:r>
              <a:rPr lang="en-US" dirty="0" smtClean="0"/>
              <a:t>, and M. P. </a:t>
            </a:r>
            <a:r>
              <a:rPr lang="en-US" dirty="0" err="1" smtClean="0"/>
              <a:t>Raverkar</a:t>
            </a:r>
            <a:r>
              <a:rPr lang="en-US" dirty="0" smtClean="0"/>
              <a:t>, “Machine Learning-Based Predictive Maintenance of Industrial Machines,” </a:t>
            </a:r>
            <a:r>
              <a:rPr lang="en-US" i="1" dirty="0" smtClean="0"/>
              <a:t>International Journal of Computer Trends and Technology</a:t>
            </a:r>
            <a:r>
              <a:rPr lang="en-US" dirty="0" smtClean="0"/>
              <a:t>, 2023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[8] J. N. A. </a:t>
            </a:r>
            <a:r>
              <a:rPr lang="en-US" dirty="0" err="1" smtClean="0"/>
              <a:t>Malaiyappan</a:t>
            </a:r>
            <a:r>
              <a:rPr lang="en-US" dirty="0" smtClean="0"/>
              <a:t>, G. </a:t>
            </a:r>
            <a:r>
              <a:rPr lang="en-US" dirty="0" err="1" smtClean="0"/>
              <a:t>Krishnamoorthy</a:t>
            </a:r>
            <a:r>
              <a:rPr lang="en-US" dirty="0" smtClean="0"/>
              <a:t>, and S. </a:t>
            </a:r>
            <a:r>
              <a:rPr lang="en-US" dirty="0" err="1" smtClean="0"/>
              <a:t>Jangoan</a:t>
            </a:r>
            <a:r>
              <a:rPr lang="en-US" dirty="0" smtClean="0"/>
              <a:t>, “Predictive Maintenance Using Machine Learning in Industrial </a:t>
            </a:r>
            <a:r>
              <a:rPr lang="en-US" dirty="0" err="1" smtClean="0"/>
              <a:t>IoT</a:t>
            </a:r>
            <a:r>
              <a:rPr lang="en-US" dirty="0" smtClean="0"/>
              <a:t>,” </a:t>
            </a:r>
            <a:r>
              <a:rPr lang="en-US" i="1" dirty="0" smtClean="0"/>
              <a:t>International Journal of Innovative Science and Research Technology</a:t>
            </a:r>
            <a:r>
              <a:rPr lang="en-US" dirty="0" smtClean="0"/>
              <a:t>, 2024.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[9] A Review of Predictive Maintenance Methods for Electrical Machines Using Machine Learning Algorithms and Sensor Data, 2025.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4320" y="1441703"/>
            <a:ext cx="3892296" cy="39349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</TotalTime>
  <Words>1793</Words>
  <Application>Microsoft Office PowerPoint</Application>
  <PresentationFormat>Custom</PresentationFormat>
  <Paragraphs>249</Paragraphs>
  <Slides>20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 </vt:lpstr>
      <vt:lpstr> </vt:lpstr>
      <vt:lpstr>Objectives</vt:lpstr>
      <vt:lpstr>Literature Review</vt:lpstr>
      <vt:lpstr>Literature Review</vt:lpstr>
      <vt:lpstr>Literature Review</vt:lpstr>
      <vt:lpstr>Literature Survey</vt:lpstr>
      <vt:lpstr> </vt:lpstr>
      <vt:lpstr> </vt:lpstr>
      <vt:lpstr>Base Papers</vt:lpstr>
      <vt:lpstr>Methodology and Drawbacks</vt:lpstr>
      <vt:lpstr>Methodology and Drawbacks</vt:lpstr>
      <vt:lpstr> Research Gap</vt:lpstr>
      <vt:lpstr>Proposed Solution</vt:lpstr>
      <vt:lpstr>Architecture Diagram</vt:lpstr>
      <vt:lpstr>Github Link</vt:lpstr>
      <vt:lpstr>Timeline of the Project (Gantt Chart)</vt:lpstr>
      <vt:lpstr>References (IEEE Paper format)</vt:lpstr>
      <vt:lpstr>References (IEEE Paper format)</vt:lpstr>
      <vt:lpstr>Slide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Darshan Srinivasa</dc:creator>
  <cp:lastModifiedBy>Admin</cp:lastModifiedBy>
  <cp:revision>10</cp:revision>
  <dcterms:created xsi:type="dcterms:W3CDTF">2026-02-09T05:08:30Z</dcterms:created>
  <dcterms:modified xsi:type="dcterms:W3CDTF">2026-02-09T08:11:48Z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2026-02-09T00:00:00Z</vt:filetime>
  </property>
  <property fmtid="{D5CDD505-2E9C-101B-9397-08002B2CF9AE}" pid="5" name="Producer">
    <vt:lpwstr>www.ilovepdf.com</vt:lpwstr>
  </property>
</Properties>
</file>
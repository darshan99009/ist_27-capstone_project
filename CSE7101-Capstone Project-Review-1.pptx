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8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2" autoAdjust="0"/>
    <p:restoredTop sz="94660"/>
  </p:normalViewPr>
  <p:slideViewPr>
    <p:cSldViewPr snapToGrid="0">
      <p:cViewPr>
        <p:scale>
          <a:sx n="66" d="100"/>
          <a:sy n="66" d="100"/>
        </p:scale>
        <p:origin x="-644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77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2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1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5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3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7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583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4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95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9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50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1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4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55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56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7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6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6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6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6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pic>
        <p:nvPicPr>
          <p:cNvPr id="2097154" name="Google Shape;52;p7" descr="C:\Users\AMMU\Desktop\Border.png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8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9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1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72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73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4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5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8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39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40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1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2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4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5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3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4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5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6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cxnSp>
        <p:nvCxnSpPr>
          <p:cNvPr id="3145728" name="Google Shape;11;p1"/>
          <p:cNvCxnSpPr>
            <a:cxnSpLocks/>
          </p:cNvCxnSpPr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2" name="Google Shape;12;p1"/>
          <p:cNvPicPr preferRelativeResize="0">
            <a:picLocks/>
          </p:cNvPicPr>
          <p:nvPr/>
        </p:nvPicPr>
        <p:blipFill rotWithShape="1">
          <a:blip r:embed="rId13">
            <a:alphaModFix/>
          </a:blip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STUDENT INNOVATION:SWADESHI FOR ATMANIRBHAR BHARAT-</a:t>
            </a:r>
            <a:br>
              <a:rPr lang="en-GB" sz="24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</a:br>
            <a:r>
              <a:rPr lang="en-GB" sz="24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SMART </a:t>
            </a:r>
            <a:r>
              <a:rPr lang="en-US" altLang="en-GB" sz="24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AUTOMATION</a:t>
            </a:r>
            <a:endParaRPr sz="24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587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itchFamily="18" charset="0"/>
                <a:ea typeface="Cambria" pitchFamily="18" charset="0"/>
              </a:rPr>
              <a:t>Batch </a:t>
            </a:r>
            <a:r>
              <a:rPr lang="en-GB" sz="1800" dirty="0" smtClean="0">
                <a:latin typeface="Cambria" pitchFamily="18" charset="0"/>
                <a:ea typeface="Cambria" pitchFamily="18" charset="0"/>
              </a:rPr>
              <a:t>Number:</a:t>
            </a:r>
            <a:r>
              <a:rPr lang="en-GB" sz="1800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IST</a:t>
            </a:r>
            <a:r>
              <a:rPr lang="en-US" altLang="en-GB" sz="1800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_27</a:t>
            </a:r>
            <a:endParaRPr sz="1800" dirty="0">
              <a:solidFill>
                <a:srgbClr val="FF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588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Under the Supervision of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1800" dirty="0">
              <a:latin typeface="Cambria" pitchFamily="18" charset="0"/>
              <a:ea typeface="Cambria" pitchFamily="18" charset="0"/>
            </a:endParaRP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Dr. </a:t>
            </a:r>
            <a:r>
              <a:rPr lang="en-US" sz="2000" b="1" dirty="0" err="1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Afroz</a:t>
            </a:r>
            <a:r>
              <a:rPr lang="en-US" sz="20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 Pasha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, PhD,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M.Tech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., B.E. </a:t>
            </a:r>
          </a:p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Assistant Professor - Senior Scale </a:t>
            </a:r>
          </a:p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School of Computer Science and Engineering Presidency University </a:t>
            </a: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graphicFrame>
        <p:nvGraphicFramePr>
          <p:cNvPr id="4194304" name="Google Shape;89;p13"/>
          <p:cNvGraphicFramePr>
            <a:graphicFrameLocks/>
          </p:cNvGraphicFramePr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48589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itchFamily="18" charset="0"/>
              <a:ea typeface="Cambria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1048590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Information Science And Technology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DR. PALLAVI </a:t>
            </a:r>
            <a:r>
              <a:rPr lang="en-US" sz="18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R</a:t>
            </a:r>
            <a:endParaRPr lang="en-US" sz="1800" b="1" dirty="0" smtClean="0">
              <a:solidFill>
                <a:srgbClr val="FF0000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MS. BENITHA CHRISTINAL </a:t>
            </a:r>
            <a:r>
              <a:rPr lang="en-US" sz="18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J</a:t>
            </a:r>
            <a:endParaRPr lang="en-US" sz="1800" b="1" dirty="0" smtClean="0">
              <a:solidFill>
                <a:srgbClr val="FF0000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 A K</a:t>
            </a:r>
            <a:endParaRPr sz="1800" b="1" i="0" u="none" strike="noStrike" cap="none" dirty="0">
              <a:solidFill>
                <a:schemeClr val="tx1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graphicFrame>
        <p:nvGraphicFramePr>
          <p:cNvPr id="4194305" name="Table 1"/>
          <p:cNvGraphicFramePr>
            <a:graphicFrameLocks noGrp="1"/>
          </p:cNvGraphicFramePr>
          <p:nvPr/>
        </p:nvGraphicFramePr>
        <p:xfrm>
          <a:off x="570669" y="2676653"/>
          <a:ext cx="5488299" cy="1483360"/>
        </p:xfrm>
        <a:graphic>
          <a:graphicData uri="http://schemas.openxmlformats.org/drawingml/2006/table">
            <a:tbl>
              <a:tblPr firstRow="1" bandRow="1"/>
              <a:tblGrid>
                <a:gridCol w="1807420"/>
                <a:gridCol w="3680879"/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55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DARSHAN GOWDA S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69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CHETHAN C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112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CHIRAG GOWDA SV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itchFamily="18" charset="0"/>
                <a:ea typeface="Cambria" pitchFamily="18" charset="0"/>
              </a:rPr>
              <a:t>Content</a:t>
            </a:r>
            <a:endParaRPr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599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45137"/>
            <a:ext cx="10668000" cy="42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4167" lnSpcReduction="1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itchFamily="18" charset="0"/>
                <a:ea typeface="Cambria" pitchFamily="18" charset="0"/>
              </a:rPr>
              <a:t>Analysis of Problem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Innovation </a:t>
            </a:r>
            <a:r>
              <a:rPr lang="en-US" dirty="0">
                <a:latin typeface="Cambria" pitchFamily="18" charset="0"/>
                <a:ea typeface="Cambria" pitchFamily="18" charset="0"/>
              </a:rPr>
              <a:t>or Novel Contributions</a:t>
            </a:r>
            <a:endParaRPr lang="en-US" sz="3200" dirty="0">
              <a:latin typeface="Cambria" pitchFamily="18" charset="0"/>
              <a:ea typeface="Cambria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ambria" pitchFamily="18" charset="0"/>
                <a:ea typeface="Cambria" pitchFamily="18" charset="0"/>
              </a:rPr>
              <a:t>Git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-hub Link</a:t>
            </a:r>
            <a:endParaRPr lang="en-US" dirty="0">
              <a:latin typeface="Cambria" pitchFamily="18" charset="0"/>
              <a:ea typeface="Cambria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itchFamily="18" charset="0"/>
                <a:ea typeface="Cambria" pitchFamily="18" charset="0"/>
              </a:rPr>
              <a:t>Problem Statement Number: </a:t>
            </a:r>
            <a:endParaRPr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603" name="Google Shape;97;p14"/>
          <p:cNvSpPr txBox="1">
            <a:spLocks noGrp="1"/>
          </p:cNvSpPr>
          <p:nvPr>
            <p:ph type="body" idx="1"/>
          </p:nvPr>
        </p:nvSpPr>
        <p:spPr>
          <a:xfrm>
            <a:off x="761999" y="952499"/>
            <a:ext cx="10668000" cy="18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5833" lnSpcReduction="1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Organization: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AICTE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Category (Hardware / Software / Both) :Software</a:t>
            </a:r>
            <a:endParaRPr lang="zh-CN" altLang="en-US" dirty="0">
              <a:latin typeface="Cambria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Problem Description : 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680" name="TextBox 1048679"/>
          <p:cNvSpPr txBox="1"/>
          <p:nvPr/>
        </p:nvSpPr>
        <p:spPr>
          <a:xfrm>
            <a:off x="1106905" y="2540000"/>
            <a:ext cx="10250905" cy="34778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Industrial equipment failures lead to unplanned downtime; hence, productivity is duly reduced with increased operational costs.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Traditional approaches to maintenance are either reactive-after failure-or time-based and scheduled, mostly quite inefficient.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objective of the project is to develop a Predictive Maintenance System with Machine Learning.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system will analyze equipment operational data to find patterns that indicate early failure.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It will also predict equipment breakdowns prior to the actual occurrence.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solution allows customers to proactively plan maintenance, thus reducing downtime, costs of maintenance, and operational risks.</a:t>
            </a:r>
            <a:endParaRPr lang="en-GB" sz="2000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mbria" pitchFamily="18" charset="0"/>
                <a:ea typeface="Cambria" pitchFamily="18" charset="0"/>
              </a:rPr>
              <a:t>Objective</a:t>
            </a:r>
            <a:endParaRPr lang="en-IN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684" name="TextBox 1048683"/>
          <p:cNvSpPr txBox="1"/>
          <p:nvPr/>
        </p:nvSpPr>
        <p:spPr>
          <a:xfrm rot="21600000">
            <a:off x="812799" y="884967"/>
            <a:ext cx="10572700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Collect 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GB" sz="2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preprocess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industrial equipment data including telemetry, maintenance logs, error history, and failure records</a:t>
            </a: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endParaRPr lang="en-GB" sz="24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Perform 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Exploratory Data Analysis (EDA) to understand key patterns and features impacting failures</a:t>
            </a: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Train 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and evaluate ML models to accurately predict potential equipment failures</a:t>
            </a: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endParaRPr lang="en-GB" sz="2400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Deploy 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a prediction pipeline to infer future failures from new data</a:t>
            </a: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endParaRPr lang="en-GB" sz="2400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Provide 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insights that help reduce downtime and </a:t>
            </a:r>
            <a:r>
              <a:rPr lang="en-GB" sz="2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optimiz</a:t>
            </a:r>
            <a:r>
              <a:rPr lang="en-US" alt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e </a:t>
            </a:r>
            <a:r>
              <a:rPr lang="en-GB" sz="2400" dirty="0" smtClean="0">
                <a:latin typeface="Cambria" pitchFamily="18" charset="0"/>
                <a:ea typeface="Cambria" pitchFamily="18" charset="0"/>
              </a:rPr>
              <a:t>maintenance scheduling.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>
          <a:xfrm>
            <a:off x="1827493" y="367520"/>
            <a:ext cx="10668000" cy="826665"/>
          </a:xfrm>
        </p:spPr>
        <p:txBody>
          <a:bodyPr/>
          <a:lstStyle/>
          <a:p>
            <a:r>
              <a:rPr lang="en-US" dirty="0">
                <a:latin typeface="Cambria" pitchFamily="18" charset="0"/>
                <a:ea typeface="Cambria" pitchFamily="18" charset="0"/>
              </a:rPr>
              <a:t>Background and Related work for title Selection</a:t>
            </a:r>
            <a:br>
              <a:rPr lang="en-US" dirty="0">
                <a:latin typeface="Cambria" pitchFamily="18" charset="0"/>
                <a:ea typeface="Cambria" pitchFamily="18" charset="0"/>
              </a:rPr>
            </a:br>
            <a:endParaRPr lang="en-IN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685" name="TextBox 1048684"/>
          <p:cNvSpPr txBox="1"/>
          <p:nvPr/>
        </p:nvSpPr>
        <p:spPr>
          <a:xfrm>
            <a:off x="341064" y="780852"/>
            <a:ext cx="11850936" cy="526297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Predictive maintenance helps industries </a:t>
            </a: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identify machine problems before they actually happen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It works by </a:t>
            </a:r>
            <a:r>
              <a:rPr lang="en-US" sz="2400" dirty="0" err="1" smtClean="0">
                <a:latin typeface="Cambria" pitchFamily="18" charset="0"/>
                <a:ea typeface="Cambria" pitchFamily="18" charset="0"/>
              </a:rPr>
              <a:t>analysing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 data from sensors like </a:t>
            </a: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temperature, vibration, and pressure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Unlike fixing machines after failure or servicing them on fixed schedules, it helps maintain equipment </a:t>
            </a: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only when needed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This approach </a:t>
            </a: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saves cost, reduces downtime, and improves machine performance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Machine learning models such as </a:t>
            </a:r>
            <a:r>
              <a:rPr lang="en-US" sz="2400" b="1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, Random Forest, Gradient Boosting, and </a:t>
            </a:r>
            <a:r>
              <a:rPr lang="en-US" sz="2400" b="1" dirty="0" err="1" smtClean="0">
                <a:latin typeface="Cambria" pitchFamily="18" charset="0"/>
                <a:ea typeface="Cambria" pitchFamily="18" charset="0"/>
              </a:rPr>
              <a:t>CatBoost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 help in making accurate predictions.</a:t>
            </a:r>
          </a:p>
          <a:p>
            <a:endParaRPr lang="en-GB" sz="2400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Analysis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of Problem Statement</a:t>
            </a:r>
          </a:p>
        </p:txBody>
      </p:sp>
      <p:sp>
        <p:nvSpPr>
          <p:cNvPr id="1048686" name="TextBox 1048685"/>
          <p:cNvSpPr txBox="1"/>
          <p:nvPr/>
        </p:nvSpPr>
        <p:spPr>
          <a:xfrm>
            <a:off x="860026" y="1281622"/>
            <a:ext cx="10888982" cy="50783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E</a:t>
            </a:r>
            <a:r>
              <a:rPr lang="en-GB" sz="2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quipment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data is complex and includes time-series sensor values </a:t>
            </a:r>
            <a:r>
              <a:rPr lang="en-US" alt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 and 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categorical logs</a:t>
            </a:r>
            <a:r>
              <a:rPr lang="en-GB" sz="2400" dirty="0" smtClean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GB" sz="24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en-GB" sz="2400" dirty="0" smtClean="0">
                <a:latin typeface="Cambria" pitchFamily="18" charset="0"/>
                <a:ea typeface="Cambria" pitchFamily="18" charset="0"/>
              </a:rPr>
              <a:t>Pr</a:t>
            </a:r>
            <a:r>
              <a:rPr lang="en-GB" sz="2400" dirty="0" err="1" smtClean="0">
                <a:latin typeface="Cambria" pitchFamily="18" charset="0"/>
                <a:ea typeface="Cambria" pitchFamily="18" charset="0"/>
              </a:rPr>
              <a:t>edicting</a:t>
            </a:r>
            <a:r>
              <a:rPr lang="en-GB" sz="2400" dirty="0" smtClean="0">
                <a:latin typeface="Cambria" pitchFamily="18" charset="0"/>
                <a:ea typeface="Cambria" pitchFamily="18" charset="0"/>
              </a:rPr>
              <a:t> failure requires disciplined </a:t>
            </a:r>
            <a:r>
              <a:rPr lang="en-GB" sz="2400" dirty="0" err="1" smtClean="0">
                <a:latin typeface="Cambria" pitchFamily="18" charset="0"/>
                <a:ea typeface="Cambria" pitchFamily="18" charset="0"/>
              </a:rPr>
              <a:t>preprocessing</a:t>
            </a:r>
            <a:r>
              <a:rPr lang="en-GB" sz="2400" dirty="0" smtClean="0">
                <a:latin typeface="Cambria" pitchFamily="18" charset="0"/>
                <a:ea typeface="Cambria" pitchFamily="18" charset="0"/>
              </a:rPr>
              <a:t> such as feature scaling, encoding, and splitting.</a:t>
            </a:r>
          </a:p>
          <a:p>
            <a:pPr>
              <a:buFont typeface="Arial" pitchFamily="34" charset="0"/>
              <a:buChar char="•"/>
            </a:pPr>
            <a:endParaRPr lang="en-US" altLang="en-GB" sz="24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en-GB" sz="2400" dirty="0" smtClean="0">
                <a:latin typeface="Cambria" pitchFamily="18" charset="0"/>
                <a:ea typeface="Cambria" pitchFamily="18" charset="0"/>
              </a:rPr>
              <a:t>Mo</a:t>
            </a:r>
            <a:r>
              <a:rPr lang="en-GB" sz="2400" dirty="0" smtClean="0">
                <a:latin typeface="Cambria" pitchFamily="18" charset="0"/>
                <a:ea typeface="Cambria" pitchFamily="18" charset="0"/>
              </a:rPr>
              <a:t>del choice impacts accuracy; ensemble methods often perform best for tabular maintenance data.</a:t>
            </a:r>
          </a:p>
          <a:p>
            <a:pPr>
              <a:buFont typeface="Arial" pitchFamily="34" charset="0"/>
              <a:buChar char="•"/>
            </a:pPr>
            <a:endParaRPr lang="en-GB" sz="2400" dirty="0" smtClean="0">
              <a:latin typeface="Cambria" pitchFamily="18" charset="0"/>
              <a:ea typeface="Cambr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en-GB" sz="2400" dirty="0" err="1" smtClean="0">
                <a:latin typeface="Cambria" pitchFamily="18" charset="0"/>
                <a:ea typeface="Cambria" pitchFamily="18" charset="0"/>
              </a:rPr>
              <a:t>Succ</a:t>
            </a:r>
            <a:r>
              <a:rPr lang="en-GB" sz="2400" dirty="0" err="1" smtClean="0">
                <a:latin typeface="Cambria" pitchFamily="18" charset="0"/>
                <a:ea typeface="Cambria" pitchFamily="18" charset="0"/>
              </a:rPr>
              <a:t>ess</a:t>
            </a:r>
            <a:r>
              <a:rPr lang="en-GB" sz="2400" dirty="0" smtClean="0">
                <a:latin typeface="Cambria" pitchFamily="18" charset="0"/>
                <a:ea typeface="Cambria" pitchFamily="18" charset="0"/>
              </a:rPr>
              <a:t> is measured via metrics like accuracy, precision, recall, and ROC-AUC.</a:t>
            </a:r>
          </a:p>
          <a:p>
            <a:endParaRPr lang="en-GB" sz="2800" dirty="0" smtClean="0">
              <a:latin typeface="Cambria" pitchFamily="18" charset="0"/>
              <a:ea typeface="Cambria" pitchFamily="18" charset="0"/>
            </a:endParaRPr>
          </a:p>
          <a:p>
            <a:endParaRPr lang="en-GB" sz="2800" dirty="0" smtClean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  <a:p>
            <a:endParaRPr lang="en-GB" sz="2800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668000" cy="975042"/>
          </a:xfrm>
        </p:spPr>
        <p:txBody>
          <a:bodyPr/>
          <a:lstStyle/>
          <a:p>
            <a:pPr lvl="0"/>
            <a:r>
              <a:rPr lang="en-US" dirty="0">
                <a:latin typeface="Cambria" pitchFamily="18" charset="0"/>
                <a:ea typeface="Cambria" pitchFamily="18" charset="0"/>
              </a:rPr>
              <a:t>Innovation or Novel Contributions</a:t>
            </a:r>
            <a:r>
              <a:rPr lang="en-US" sz="3600" dirty="0">
                <a:latin typeface="Cambria" pitchFamily="18" charset="0"/>
                <a:ea typeface="Cambria" pitchFamily="18" charset="0"/>
              </a:rPr>
              <a:t/>
            </a:r>
            <a:br>
              <a:rPr lang="en-US" sz="3600" dirty="0">
                <a:latin typeface="Cambria" pitchFamily="18" charset="0"/>
                <a:ea typeface="Cambria" pitchFamily="18" charset="0"/>
              </a:rPr>
            </a:br>
            <a:endParaRPr lang="en-IN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690" name="TextBox 1048689"/>
          <p:cNvSpPr txBox="1"/>
          <p:nvPr/>
        </p:nvSpPr>
        <p:spPr>
          <a:xfrm>
            <a:off x="445241" y="240030"/>
            <a:ext cx="11403117" cy="45243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
✔ Modular and structured ML pipeline (data loading, </a:t>
            </a:r>
            <a:r>
              <a:rPr lang="en-GB" sz="2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preprocessing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, feature engineering).</a:t>
            </a:r>
          </a:p>
          <a:p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
✔ Use of advanced classifiers (e.g., </a:t>
            </a:r>
            <a:r>
              <a:rPr lang="en-GB" sz="2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XGBoost</a:t>
            </a:r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) achieving high predictive performance.</a:t>
            </a:r>
          </a:p>
          <a:p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
✔ Detailed EDA to inform feature selection.</a:t>
            </a:r>
          </a:p>
          <a:p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
✔ End-to-end prediction system with clear training, testing, and inference stages.</a:t>
            </a:r>
          </a:p>
          <a:p>
            <a:r>
              <a:rPr lang="en-GB" sz="2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
✔ Easily extendable for real-time deployment or integration with dashboards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7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8" name="Google Shape;115;p17"/>
          <p:cNvSpPr txBox="1"/>
          <p:nvPr/>
        </p:nvSpPr>
        <p:spPr>
          <a:xfrm>
            <a:off x="806149" y="1667510"/>
            <a:ext cx="11605264" cy="1475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https://github.com/darshan99009/IST_27-Capstone_Project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References</a:t>
            </a:r>
            <a:r>
              <a:rPr spc="-35" dirty="0"/>
              <a:t> </a:t>
            </a:r>
            <a:r>
              <a:rPr dirty="0"/>
              <a:t>(IEEE</a:t>
            </a:r>
            <a:r>
              <a:rPr spc="-70" dirty="0"/>
              <a:t> </a:t>
            </a:r>
            <a:r>
              <a:rPr dirty="0"/>
              <a:t>Paper</a:t>
            </a:r>
            <a:r>
              <a:rPr spc="-50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63" y="1200734"/>
            <a:ext cx="10340975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 smtClean="0"/>
              <a:t>[1] AI-Powered Predictive Maintenance System for Industrial Equipment: Reducing Downtime and Costs Through Sensor-Based Analytics, 2025.</a:t>
            </a:r>
          </a:p>
          <a:p>
            <a:endParaRPr lang="en-US" dirty="0" smtClean="0"/>
          </a:p>
          <a:p>
            <a:r>
              <a:rPr lang="en-US" dirty="0" smtClean="0"/>
              <a:t>[2] A. K. S. </a:t>
            </a:r>
            <a:r>
              <a:rPr lang="en-US" dirty="0" err="1" smtClean="0"/>
              <a:t>Jardine</a:t>
            </a:r>
            <a:r>
              <a:rPr lang="en-US" dirty="0" smtClean="0"/>
              <a:t>, D. Lin, and D. </a:t>
            </a:r>
            <a:r>
              <a:rPr lang="en-US" dirty="0" err="1" smtClean="0"/>
              <a:t>Banjevic</a:t>
            </a:r>
            <a:r>
              <a:rPr lang="en-US" dirty="0" smtClean="0"/>
              <a:t>, “A Review on Machinery Diagnostics and Prognostics Implementing Condition-Based Maintenance,” </a:t>
            </a:r>
            <a:r>
              <a:rPr lang="en-US" i="1" dirty="0" smtClean="0"/>
              <a:t>Mechanical Systems and Signal Processing</a:t>
            </a:r>
            <a:r>
              <a:rPr lang="en-US" dirty="0" smtClean="0"/>
              <a:t>, 2006. </a:t>
            </a:r>
          </a:p>
          <a:p>
            <a:endParaRPr lang="en-US" dirty="0" smtClean="0"/>
          </a:p>
          <a:p>
            <a:r>
              <a:rPr lang="en-US" dirty="0" smtClean="0"/>
              <a:t>[3] H. </a:t>
            </a:r>
            <a:r>
              <a:rPr lang="en-US" dirty="0" err="1" smtClean="0"/>
              <a:t>Abouloifa</a:t>
            </a:r>
            <a:r>
              <a:rPr lang="en-US" dirty="0" smtClean="0"/>
              <a:t> and M. </a:t>
            </a:r>
            <a:r>
              <a:rPr lang="en-US" dirty="0" err="1" smtClean="0"/>
              <a:t>Bahaj</a:t>
            </a:r>
            <a:r>
              <a:rPr lang="en-US" dirty="0" smtClean="0"/>
              <a:t>, “Comparing Deep Learning and Fourier Series Models for Equipment Failure Prediction in Predictive Industrial Maintenance 4.0,” </a:t>
            </a:r>
            <a:r>
              <a:rPr lang="en-US" i="1" dirty="0" smtClean="0"/>
              <a:t>Scientific Reports</a:t>
            </a:r>
            <a:r>
              <a:rPr lang="en-US" dirty="0" smtClean="0"/>
              <a:t>, 2025.</a:t>
            </a:r>
          </a:p>
          <a:p>
            <a:endParaRPr lang="en-US" dirty="0" smtClean="0"/>
          </a:p>
          <a:p>
            <a:r>
              <a:rPr lang="en-US" dirty="0" smtClean="0"/>
              <a:t>[4] W. Li and T. Li, “Comparison of Deep Learning Models for Predictive Maintenance in Industrial Manufacturing Systems Using Sensor Data,” </a:t>
            </a:r>
            <a:r>
              <a:rPr lang="en-US" i="1" dirty="0" smtClean="0"/>
              <a:t>Scientific Reports</a:t>
            </a:r>
            <a:r>
              <a:rPr lang="en-US" dirty="0" smtClean="0"/>
              <a:t>, 2025.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641" y="260680"/>
            <a:ext cx="6004559" cy="430887"/>
          </a:xfrm>
        </p:spPr>
        <p:txBody>
          <a:bodyPr/>
          <a:lstStyle/>
          <a:p>
            <a:r>
              <a:rPr lang="en-US" dirty="0" smtClean="0"/>
              <a:t>References</a:t>
            </a:r>
            <a:r>
              <a:rPr lang="en-US" spc="-35" dirty="0" smtClean="0"/>
              <a:t> </a:t>
            </a:r>
            <a:r>
              <a:rPr lang="en-US" dirty="0" smtClean="0"/>
              <a:t>(IEEE</a:t>
            </a:r>
            <a:r>
              <a:rPr lang="en-US" spc="-70" dirty="0" smtClean="0"/>
              <a:t> </a:t>
            </a:r>
            <a:r>
              <a:rPr lang="en-US" dirty="0" smtClean="0"/>
              <a:t>Paper</a:t>
            </a:r>
            <a:r>
              <a:rPr lang="en-US" spc="-50" dirty="0" smtClean="0"/>
              <a:t> </a:t>
            </a:r>
            <a:r>
              <a:rPr lang="en-US" spc="-10" dirty="0" smtClean="0"/>
              <a:t>format)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444" y="1167130"/>
            <a:ext cx="11015980" cy="4154984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[5] J. Garcia, L. Rios-</a:t>
            </a:r>
            <a:r>
              <a:rPr lang="en-US" dirty="0" err="1" smtClean="0"/>
              <a:t>Colque</a:t>
            </a:r>
            <a:r>
              <a:rPr lang="en-US" dirty="0" smtClean="0"/>
              <a:t>, A. </a:t>
            </a:r>
            <a:r>
              <a:rPr lang="en-US" dirty="0" err="1" smtClean="0"/>
              <a:t>Peña</a:t>
            </a:r>
            <a:r>
              <a:rPr lang="en-US" dirty="0" smtClean="0"/>
              <a:t>, and L. Rojas, “Condition Monitoring and Predictive Maintenance in Industrial Equipment: An NLP-Assisted Review of Signal Processing, Hybrid Models, and Implementation Challenges,” </a:t>
            </a:r>
          </a:p>
          <a:p>
            <a:endParaRPr lang="en-US" dirty="0" smtClean="0"/>
          </a:p>
          <a:p>
            <a:r>
              <a:rPr lang="en-US" dirty="0" smtClean="0"/>
              <a:t>[6] H. Singh, “</a:t>
            </a:r>
            <a:r>
              <a:rPr lang="en-US" dirty="0" err="1" smtClean="0"/>
              <a:t>IoT</a:t>
            </a:r>
            <a:r>
              <a:rPr lang="en-US" dirty="0" smtClean="0"/>
              <a:t>-Based Predictive Maintenance in Industrial Machinery,” </a:t>
            </a:r>
            <a:r>
              <a:rPr lang="en-US" i="1" dirty="0" smtClean="0"/>
              <a:t>International Journal for Modern Trends in Science and Technology</a:t>
            </a:r>
            <a:r>
              <a:rPr lang="en-US" dirty="0" smtClean="0"/>
              <a:t>, 2025. </a:t>
            </a:r>
          </a:p>
          <a:p>
            <a:endParaRPr lang="en-US" dirty="0" smtClean="0"/>
          </a:p>
          <a:p>
            <a:r>
              <a:rPr lang="en-US" dirty="0" smtClean="0"/>
              <a:t>[7] C. R. </a:t>
            </a:r>
            <a:r>
              <a:rPr lang="en-US" dirty="0" err="1" smtClean="0"/>
              <a:t>Patil</a:t>
            </a:r>
            <a:r>
              <a:rPr lang="en-US" dirty="0" smtClean="0"/>
              <a:t>, S. K. </a:t>
            </a:r>
            <a:r>
              <a:rPr lang="en-US" dirty="0" err="1" smtClean="0"/>
              <a:t>Jadhav</a:t>
            </a:r>
            <a:r>
              <a:rPr lang="en-US" dirty="0" smtClean="0"/>
              <a:t>, A. L. </a:t>
            </a:r>
            <a:r>
              <a:rPr lang="en-US" dirty="0" err="1" smtClean="0"/>
              <a:t>Bardiya</a:t>
            </a:r>
            <a:r>
              <a:rPr lang="en-US" dirty="0" smtClean="0"/>
              <a:t>, A. P. </a:t>
            </a:r>
            <a:r>
              <a:rPr lang="en-US" dirty="0" err="1" smtClean="0"/>
              <a:t>Davande</a:t>
            </a:r>
            <a:r>
              <a:rPr lang="en-US" dirty="0" smtClean="0"/>
              <a:t>, and M. P. </a:t>
            </a:r>
            <a:r>
              <a:rPr lang="en-US" dirty="0" err="1" smtClean="0"/>
              <a:t>Raverkar</a:t>
            </a:r>
            <a:r>
              <a:rPr lang="en-US" dirty="0" smtClean="0"/>
              <a:t>, “Machine Learning-Based Predictive Maintenance of Industrial Machines,” </a:t>
            </a:r>
            <a:r>
              <a:rPr lang="en-US" i="1" dirty="0" smtClean="0"/>
              <a:t>International Journal of Computer Trends and Technology</a:t>
            </a:r>
            <a:r>
              <a:rPr lang="en-US" dirty="0" smtClean="0"/>
              <a:t>, 2023.</a:t>
            </a:r>
          </a:p>
          <a:p>
            <a:endParaRPr lang="en-US" dirty="0" smtClean="0"/>
          </a:p>
          <a:p>
            <a:r>
              <a:rPr lang="en-US" dirty="0" smtClean="0"/>
              <a:t>[8] J. N. A. </a:t>
            </a:r>
            <a:r>
              <a:rPr lang="en-US" dirty="0" err="1" smtClean="0"/>
              <a:t>Malaiyappan</a:t>
            </a:r>
            <a:r>
              <a:rPr lang="en-US" dirty="0" smtClean="0"/>
              <a:t>, G. </a:t>
            </a:r>
            <a:r>
              <a:rPr lang="en-US" dirty="0" err="1" smtClean="0"/>
              <a:t>Krishnamoorthy</a:t>
            </a:r>
            <a:r>
              <a:rPr lang="en-US" dirty="0" smtClean="0"/>
              <a:t>, and S. </a:t>
            </a:r>
            <a:r>
              <a:rPr lang="en-US" dirty="0" err="1" smtClean="0"/>
              <a:t>Jangoan</a:t>
            </a:r>
            <a:r>
              <a:rPr lang="en-US" dirty="0" smtClean="0"/>
              <a:t>, “Predictive Maintenance Using Machine Learning in Industrial </a:t>
            </a:r>
            <a:r>
              <a:rPr lang="en-US" dirty="0" err="1" smtClean="0"/>
              <a:t>IoT</a:t>
            </a:r>
            <a:r>
              <a:rPr lang="en-US" dirty="0" smtClean="0"/>
              <a:t>,” </a:t>
            </a:r>
            <a:r>
              <a:rPr lang="en-US" i="1" dirty="0" smtClean="0"/>
              <a:t>International Journal of Innovative Science and Research Technology</a:t>
            </a:r>
            <a:r>
              <a:rPr lang="en-US" dirty="0" smtClean="0"/>
              <a:t>, 2024. </a:t>
            </a:r>
          </a:p>
          <a:p>
            <a:endParaRPr lang="en-US" dirty="0" smtClean="0"/>
          </a:p>
          <a:p>
            <a:r>
              <a:rPr lang="en-US" dirty="0" smtClean="0"/>
              <a:t>[9] A Review of Predictive Maintenance Methods for Electrical Machines Using Machine Learning Algorithms and Sensor Data, 2025.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804</Words>
  <Application>Microsoft Office PowerPoint</Application>
  <PresentationFormat>Custom</PresentationFormat>
  <Paragraphs>99</Paragraphs>
  <Slides>11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Bioinformatics</vt:lpstr>
      <vt:lpstr>STUDENT INNOVATION:SWADESHI FOR ATMANIRBHAR BHARAT- SMART AUTOMATION</vt:lpstr>
      <vt:lpstr>Content</vt:lpstr>
      <vt:lpstr>Problem Statement Number: </vt:lpstr>
      <vt:lpstr>Objective</vt:lpstr>
      <vt:lpstr>Background and Related work for title Selection </vt:lpstr>
      <vt:lpstr>Analysis of Problem Statement</vt:lpstr>
      <vt:lpstr>Innovation or Novel Contributions </vt:lpstr>
      <vt:lpstr>Github Link</vt:lpstr>
      <vt:lpstr>References (IEEE Paper format)</vt:lpstr>
      <vt:lpstr>References (IEEE Paper format)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6</cp:revision>
  <dcterms:created xsi:type="dcterms:W3CDTF">2026-01-15T14:22:53Z</dcterms:created>
  <dcterms:modified xsi:type="dcterms:W3CDTF">2026-02-09T08:11:35Z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feefad4480d84033afcf3e6740809fd6</vt:lpwstr>
  </property>
</Properties>
</file>
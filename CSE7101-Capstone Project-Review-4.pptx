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69" r:id="rId3"/>
    <p:sldId id="257" r:id="rId4"/>
    <p:sldId id="274" r:id="rId5"/>
    <p:sldId id="275" r:id="rId6"/>
    <p:sldId id="276" r:id="rId7"/>
    <p:sldId id="288" r:id="rId8"/>
    <p:sldId id="289" r:id="rId9"/>
    <p:sldId id="302" r:id="rId10"/>
    <p:sldId id="298" r:id="rId11"/>
    <p:sldId id="296" r:id="rId12"/>
    <p:sldId id="277" r:id="rId13"/>
    <p:sldId id="271" r:id="rId14"/>
    <p:sldId id="270" r:id="rId15"/>
    <p:sldId id="286" r:id="rId16"/>
    <p:sldId id="304" r:id="rId17"/>
    <p:sldId id="305" r:id="rId18"/>
    <p:sldId id="306" r:id="rId19"/>
    <p:sldId id="265" r:id="rId20"/>
    <p:sldId id="307" r:id="rId21"/>
    <p:sldId id="301" r:id="rId22"/>
    <p:sldId id="303" r:id="rId23"/>
    <p:sldId id="279" r:id="rId24"/>
    <p:sldId id="281" r:id="rId25"/>
    <p:sldId id="287" r:id="rId26"/>
    <p:sldId id="282" r:id="rId27"/>
    <p:sldId id="283" r:id="rId28"/>
    <p:sldId id="294" r:id="rId29"/>
    <p:sldId id="284" r:id="rId30"/>
    <p:sldId id="266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395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F4AFC-E560-480B-827B-2A1917B9D4E3}" v="286" dt="2026-03-01T19:16:24.49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K" userId="a315a884e0bf5aa6" providerId="LiveId" clId="{A727F5B9-E8EC-4050-BB02-D6EB960E96B3}"/>
    <pc:docChg chg="undo redo custSel addSld delSld modSld sldOrd">
      <pc:chgData name="Archana K" userId="a315a884e0bf5aa6" providerId="LiveId" clId="{A727F5B9-E8EC-4050-BB02-D6EB960E96B3}" dt="2026-03-01T19:16:27.411" v="3301" actId="20577"/>
      <pc:docMkLst>
        <pc:docMk/>
      </pc:docMkLst>
      <pc:sldChg chg="modSp mod">
        <pc:chgData name="Archana K" userId="a315a884e0bf5aa6" providerId="LiveId" clId="{A727F5B9-E8EC-4050-BB02-D6EB960E96B3}" dt="2026-02-26T20:02:02.558" v="2874" actId="1076"/>
        <pc:sldMkLst>
          <pc:docMk/>
          <pc:sldMk cId="0" sldId="257"/>
        </pc:sldMkLst>
        <pc:spChg chg="mod">
          <ac:chgData name="Archana K" userId="a315a884e0bf5aa6" providerId="LiveId" clId="{A727F5B9-E8EC-4050-BB02-D6EB960E96B3}" dt="2026-02-26T20:02:02.558" v="2874" actId="1076"/>
          <ac:spMkLst>
            <pc:docMk/>
            <pc:sldMk cId="0" sldId="257"/>
            <ac:spMk id="97" creationId="{00000000-0000-0000-0000-000000000000}"/>
          </ac:spMkLst>
        </pc:spChg>
      </pc:sldChg>
      <pc:sldChg chg="addSp delSp modSp mod ord">
        <pc:chgData name="Archana K" userId="a315a884e0bf5aa6" providerId="LiveId" clId="{A727F5B9-E8EC-4050-BB02-D6EB960E96B3}" dt="2026-02-27T15:43:44.950" v="3289" actId="14100"/>
        <pc:sldMkLst>
          <pc:docMk/>
          <pc:sldMk cId="0" sldId="265"/>
        </pc:sldMkLst>
        <pc:spChg chg="mod">
          <ac:chgData name="Archana K" userId="a315a884e0bf5aa6" providerId="LiveId" clId="{A727F5B9-E8EC-4050-BB02-D6EB960E96B3}" dt="2026-02-27T15:00:34.923" v="3143" actId="1076"/>
          <ac:spMkLst>
            <pc:docMk/>
            <pc:sldMk cId="0" sldId="265"/>
            <ac:spMk id="144" creationId="{00000000-0000-0000-0000-000000000000}"/>
          </ac:spMkLst>
        </pc:spChg>
        <pc:picChg chg="add mod modCrop">
          <ac:chgData name="Archana K" userId="a315a884e0bf5aa6" providerId="LiveId" clId="{A727F5B9-E8EC-4050-BB02-D6EB960E96B3}" dt="2026-02-27T15:43:16.434" v="3283" actId="14100"/>
          <ac:picMkLst>
            <pc:docMk/>
            <pc:sldMk cId="0" sldId="265"/>
            <ac:picMk id="3" creationId="{7ABA5E94-4B21-1831-976B-8303DF64FAF3}"/>
          </ac:picMkLst>
        </pc:picChg>
        <pc:picChg chg="add mod modCrop">
          <ac:chgData name="Archana K" userId="a315a884e0bf5aa6" providerId="LiveId" clId="{A727F5B9-E8EC-4050-BB02-D6EB960E96B3}" dt="2026-02-27T15:43:44.950" v="3289" actId="14100"/>
          <ac:picMkLst>
            <pc:docMk/>
            <pc:sldMk cId="0" sldId="265"/>
            <ac:picMk id="4" creationId="{19F70492-89B1-3D9C-6C93-96205E624AF9}"/>
          </ac:picMkLst>
        </pc:picChg>
      </pc:sldChg>
      <pc:sldChg chg="modSp mod">
        <pc:chgData name="Archana K" userId="a315a884e0bf5aa6" providerId="LiveId" clId="{A727F5B9-E8EC-4050-BB02-D6EB960E96B3}" dt="2026-02-27T14:59:16.785" v="3132" actId="20577"/>
        <pc:sldMkLst>
          <pc:docMk/>
          <pc:sldMk cId="2856357337" sldId="268"/>
        </pc:sldMkLst>
        <pc:spChg chg="mod">
          <ac:chgData name="Archana K" userId="a315a884e0bf5aa6" providerId="LiveId" clId="{A727F5B9-E8EC-4050-BB02-D6EB960E96B3}" dt="2026-02-26T19:26:07.977" v="1720" actId="255"/>
          <ac:spMkLst>
            <pc:docMk/>
            <pc:sldMk cId="2856357337" sldId="268"/>
            <ac:spMk id="6" creationId="{8F591925-D5F0-5ADD-F270-88CBE94D7D1B}"/>
          </ac:spMkLst>
        </pc:spChg>
        <pc:spChg chg="mod">
          <ac:chgData name="Archana K" userId="a315a884e0bf5aa6" providerId="LiveId" clId="{A727F5B9-E8EC-4050-BB02-D6EB960E96B3}" dt="2026-02-27T14:59:16.785" v="3132" actId="20577"/>
          <ac:spMkLst>
            <pc:docMk/>
            <pc:sldMk cId="2856357337" sldId="268"/>
            <ac:spMk id="114" creationId="{00000000-0000-0000-0000-000000000000}"/>
          </ac:spMkLst>
        </pc:spChg>
      </pc:sldChg>
      <pc:sldChg chg="modSp mod">
        <pc:chgData name="Archana K" userId="a315a884e0bf5aa6" providerId="LiveId" clId="{A727F5B9-E8EC-4050-BB02-D6EB960E96B3}" dt="2026-02-26T19:34:45.438" v="1806" actId="20577"/>
        <pc:sldMkLst>
          <pc:docMk/>
          <pc:sldMk cId="2143451837" sldId="269"/>
        </pc:sldMkLst>
        <pc:spChg chg="mod">
          <ac:chgData name="Archana K" userId="a315a884e0bf5aa6" providerId="LiveId" clId="{A727F5B9-E8EC-4050-BB02-D6EB960E96B3}" dt="2026-02-26T19:34:45.438" v="1806" actId="20577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mod">
        <pc:chgData name="Archana K" userId="a315a884e0bf5aa6" providerId="LiveId" clId="{A727F5B9-E8EC-4050-BB02-D6EB960E96B3}" dt="2026-02-26T19:28:33.503" v="1742" actId="1076"/>
        <pc:sldMkLst>
          <pc:docMk/>
          <pc:sldMk cId="479890276" sldId="270"/>
        </pc:sldMkLst>
        <pc:spChg chg="mod">
          <ac:chgData name="Archana K" userId="a315a884e0bf5aa6" providerId="LiveId" clId="{A727F5B9-E8EC-4050-BB02-D6EB960E96B3}" dt="2026-02-26T19:26:50.097" v="1726"/>
          <ac:spMkLst>
            <pc:docMk/>
            <pc:sldMk cId="479890276" sldId="270"/>
            <ac:spMk id="114" creationId="{00000000-0000-0000-0000-000000000000}"/>
          </ac:spMkLst>
        </pc:spChg>
        <pc:picChg chg="add mod">
          <ac:chgData name="Archana K" userId="a315a884e0bf5aa6" providerId="LiveId" clId="{A727F5B9-E8EC-4050-BB02-D6EB960E96B3}" dt="2026-02-26T19:28:33.503" v="1742" actId="1076"/>
          <ac:picMkLst>
            <pc:docMk/>
            <pc:sldMk cId="479890276" sldId="270"/>
            <ac:picMk id="4" creationId="{42669871-A5C8-B9C9-AACB-73650E041415}"/>
          </ac:picMkLst>
        </pc:picChg>
      </pc:sldChg>
      <pc:sldChg chg="modSp mod">
        <pc:chgData name="Archana K" userId="a315a884e0bf5aa6" providerId="LiveId" clId="{A727F5B9-E8EC-4050-BB02-D6EB960E96B3}" dt="2026-02-26T19:08:59.622" v="1375" actId="1076"/>
        <pc:sldMkLst>
          <pc:docMk/>
          <pc:sldMk cId="2000455742" sldId="271"/>
        </pc:sldMkLst>
        <pc:spChg chg="mod">
          <ac:chgData name="Archana K" userId="a315a884e0bf5aa6" providerId="LiveId" clId="{A727F5B9-E8EC-4050-BB02-D6EB960E96B3}" dt="2026-02-26T19:08:59.622" v="1375" actId="1076"/>
          <ac:spMkLst>
            <pc:docMk/>
            <pc:sldMk cId="2000455742" sldId="271"/>
            <ac:spMk id="115" creationId="{00000000-0000-0000-0000-000000000000}"/>
          </ac:spMkLst>
        </pc:spChg>
      </pc:sldChg>
      <pc:sldChg chg="addSp delSp modSp mod">
        <pc:chgData name="Archana K" userId="a315a884e0bf5aa6" providerId="LiveId" clId="{A727F5B9-E8EC-4050-BB02-D6EB960E96B3}" dt="2026-02-27T14:59:03.552" v="3131" actId="1076"/>
        <pc:sldMkLst>
          <pc:docMk/>
          <pc:sldMk cId="3338832548" sldId="272"/>
        </pc:sldMkLst>
        <pc:spChg chg="add mod">
          <ac:chgData name="Archana K" userId="a315a884e0bf5aa6" providerId="LiveId" clId="{A727F5B9-E8EC-4050-BB02-D6EB960E96B3}" dt="2026-02-26T18:55:27.076" v="1066" actId="1076"/>
          <ac:spMkLst>
            <pc:docMk/>
            <pc:sldMk cId="3338832548" sldId="272"/>
            <ac:spMk id="6" creationId="{868B0CB8-3486-0B30-78BE-7946FFCC944C}"/>
          </ac:spMkLst>
        </pc:spChg>
        <pc:spChg chg="mod">
          <ac:chgData name="Archana K" userId="a315a884e0bf5aa6" providerId="LiveId" clId="{A727F5B9-E8EC-4050-BB02-D6EB960E96B3}" dt="2026-02-27T14:59:03.552" v="3131" actId="1076"/>
          <ac:spMkLst>
            <pc:docMk/>
            <pc:sldMk cId="3338832548" sldId="272"/>
            <ac:spMk id="114" creationId="{00000000-0000-0000-0000-000000000000}"/>
          </ac:spMkLst>
        </pc:spChg>
        <pc:graphicFrameChg chg="add mod modGraphic">
          <ac:chgData name="Archana K" userId="a315a884e0bf5aa6" providerId="LiveId" clId="{A727F5B9-E8EC-4050-BB02-D6EB960E96B3}" dt="2026-02-26T19:05:31.754" v="1347" actId="2711"/>
          <ac:graphicFrameMkLst>
            <pc:docMk/>
            <pc:sldMk cId="3338832548" sldId="272"/>
            <ac:graphicFrameMk id="4" creationId="{1B112742-8E28-83BD-0501-64063D7E257F}"/>
          </ac:graphicFrameMkLst>
        </pc:graphicFrameChg>
      </pc:sldChg>
      <pc:sldChg chg="modSp mod">
        <pc:chgData name="Archana K" userId="a315a884e0bf5aa6" providerId="LiveId" clId="{A727F5B9-E8EC-4050-BB02-D6EB960E96B3}" dt="2026-02-27T15:46:22.520" v="3298" actId="20577"/>
        <pc:sldMkLst>
          <pc:docMk/>
          <pc:sldMk cId="2637979550" sldId="274"/>
        </pc:sldMkLst>
        <pc:spChg chg="mod">
          <ac:chgData name="Archana K" userId="a315a884e0bf5aa6" providerId="LiveId" clId="{A727F5B9-E8EC-4050-BB02-D6EB960E96B3}" dt="2026-02-27T15:46:22.520" v="3298" actId="20577"/>
          <ac:spMkLst>
            <pc:docMk/>
            <pc:sldMk cId="2637979550" sldId="274"/>
            <ac:spMk id="97" creationId="{00000000-0000-0000-0000-000000000000}"/>
          </ac:spMkLst>
        </pc:spChg>
      </pc:sldChg>
      <pc:sldChg chg="modSp mod">
        <pc:chgData name="Archana K" userId="a315a884e0bf5aa6" providerId="LiveId" clId="{A727F5B9-E8EC-4050-BB02-D6EB960E96B3}" dt="2026-02-26T17:31:41.442" v="456" actId="1076"/>
        <pc:sldMkLst>
          <pc:docMk/>
          <pc:sldMk cId="2210384590" sldId="275"/>
        </pc:sldMkLst>
        <pc:spChg chg="mod">
          <ac:chgData name="Archana K" userId="a315a884e0bf5aa6" providerId="LiveId" clId="{A727F5B9-E8EC-4050-BB02-D6EB960E96B3}" dt="2026-02-26T17:31:41.442" v="456" actId="1076"/>
          <ac:spMkLst>
            <pc:docMk/>
            <pc:sldMk cId="2210384590" sldId="275"/>
            <ac:spMk id="3" creationId="{B76000D5-BD05-9671-CA1E-E8489CD55212}"/>
          </ac:spMkLst>
        </pc:spChg>
      </pc:sldChg>
      <pc:sldChg chg="modSp mod">
        <pc:chgData name="Archana K" userId="a315a884e0bf5aa6" providerId="LiveId" clId="{A727F5B9-E8EC-4050-BB02-D6EB960E96B3}" dt="2026-02-27T14:32:24.853" v="2913"/>
        <pc:sldMkLst>
          <pc:docMk/>
          <pc:sldMk cId="3383053240" sldId="276"/>
        </pc:sldMkLst>
        <pc:graphicFrameChg chg="mod modGraphic">
          <ac:chgData name="Archana K" userId="a315a884e0bf5aa6" providerId="LiveId" clId="{A727F5B9-E8EC-4050-BB02-D6EB960E96B3}" dt="2026-02-27T14:32:24.853" v="2913"/>
          <ac:graphicFrameMkLst>
            <pc:docMk/>
            <pc:sldMk cId="3383053240" sldId="276"/>
            <ac:graphicFrameMk id="4" creationId="{E87EA0B5-7FBA-FD7B-5AF5-E22CC88A4486}"/>
          </ac:graphicFrameMkLst>
        </pc:graphicFrameChg>
      </pc:sldChg>
      <pc:sldChg chg="modSp mod">
        <pc:chgData name="Archana K" userId="a315a884e0bf5aa6" providerId="LiveId" clId="{A727F5B9-E8EC-4050-BB02-D6EB960E96B3}" dt="2026-02-27T14:56:39.533" v="3119" actId="1076"/>
        <pc:sldMkLst>
          <pc:docMk/>
          <pc:sldMk cId="2607164246" sldId="277"/>
        </pc:sldMkLst>
        <pc:spChg chg="mod">
          <ac:chgData name="Archana K" userId="a315a884e0bf5aa6" providerId="LiveId" clId="{A727F5B9-E8EC-4050-BB02-D6EB960E96B3}" dt="2026-02-27T14:56:39.533" v="3119" actId="1076"/>
          <ac:spMkLst>
            <pc:docMk/>
            <pc:sldMk cId="2607164246" sldId="277"/>
            <ac:spMk id="3" creationId="{753E7914-B4DA-C382-F98A-E651E4E5FE3C}"/>
          </ac:spMkLst>
        </pc:spChg>
      </pc:sldChg>
      <pc:sldChg chg="modSp mod">
        <pc:chgData name="Archana K" userId="a315a884e0bf5aa6" providerId="LiveId" clId="{A727F5B9-E8EC-4050-BB02-D6EB960E96B3}" dt="2026-02-27T14:58:36.084" v="3128" actId="20577"/>
        <pc:sldMkLst>
          <pc:docMk/>
          <pc:sldMk cId="177345667" sldId="278"/>
        </pc:sldMkLst>
        <pc:spChg chg="mod">
          <ac:chgData name="Archana K" userId="a315a884e0bf5aa6" providerId="LiveId" clId="{A727F5B9-E8EC-4050-BB02-D6EB960E96B3}" dt="2026-02-27T14:58:36.084" v="3128" actId="20577"/>
          <ac:spMkLst>
            <pc:docMk/>
            <pc:sldMk cId="177345667" sldId="278"/>
            <ac:spMk id="2" creationId="{21BA88C0-EE10-C87E-7C55-B7E7268143AC}"/>
          </ac:spMkLst>
        </pc:spChg>
        <pc:spChg chg="mod">
          <ac:chgData name="Archana K" userId="a315a884e0bf5aa6" providerId="LiveId" clId="{A727F5B9-E8EC-4050-BB02-D6EB960E96B3}" dt="2026-02-27T14:58:12.575" v="3127" actId="1076"/>
          <ac:spMkLst>
            <pc:docMk/>
            <pc:sldMk cId="177345667" sldId="278"/>
            <ac:spMk id="4" creationId="{8CDA8449-A5F4-129F-B0A5-591C93A3A729}"/>
          </ac:spMkLst>
        </pc:spChg>
      </pc:sldChg>
      <pc:sldChg chg="modSp mod">
        <pc:chgData name="Archana K" userId="a315a884e0bf5aa6" providerId="LiveId" clId="{A727F5B9-E8EC-4050-BB02-D6EB960E96B3}" dt="2026-02-27T15:32:53.140" v="3265" actId="20577"/>
        <pc:sldMkLst>
          <pc:docMk/>
          <pc:sldMk cId="3017934507" sldId="279"/>
        </pc:sldMkLst>
        <pc:spChg chg="mod">
          <ac:chgData name="Archana K" userId="a315a884e0bf5aa6" providerId="LiveId" clId="{A727F5B9-E8EC-4050-BB02-D6EB960E96B3}" dt="2026-02-26T19:41:42.084" v="1927"/>
          <ac:spMkLst>
            <pc:docMk/>
            <pc:sldMk cId="3017934507" sldId="279"/>
            <ac:spMk id="2" creationId="{BA6EA9DB-17D8-3C08-AE05-CEE4B7BDDA9C}"/>
          </ac:spMkLst>
        </pc:spChg>
        <pc:spChg chg="mod">
          <ac:chgData name="Archana K" userId="a315a884e0bf5aa6" providerId="LiveId" clId="{A727F5B9-E8EC-4050-BB02-D6EB960E96B3}" dt="2026-02-27T15:32:53.140" v="3265" actId="20577"/>
          <ac:spMkLst>
            <pc:docMk/>
            <pc:sldMk cId="3017934507" sldId="279"/>
            <ac:spMk id="3" creationId="{82706241-9B43-DD46-A648-11EA8BF80252}"/>
          </ac:spMkLst>
        </pc:spChg>
      </pc:sldChg>
      <pc:sldChg chg="modSp mod">
        <pc:chgData name="Archana K" userId="a315a884e0bf5aa6" providerId="LiveId" clId="{A727F5B9-E8EC-4050-BB02-D6EB960E96B3}" dt="2026-02-27T15:34:03.048" v="3268" actId="20577"/>
        <pc:sldMkLst>
          <pc:docMk/>
          <pc:sldMk cId="1278155157" sldId="281"/>
        </pc:sldMkLst>
        <pc:spChg chg="mod">
          <ac:chgData name="Archana K" userId="a315a884e0bf5aa6" providerId="LiveId" clId="{A727F5B9-E8EC-4050-BB02-D6EB960E96B3}" dt="2026-02-27T15:34:03.048" v="3268" actId="20577"/>
          <ac:spMkLst>
            <pc:docMk/>
            <pc:sldMk cId="1278155157" sldId="281"/>
            <ac:spMk id="3" creationId="{378EE1B9-D6AC-321C-BC0E-1FD21487A812}"/>
          </ac:spMkLst>
        </pc:spChg>
      </pc:sldChg>
      <pc:sldChg chg="modSp mod">
        <pc:chgData name="Archana K" userId="a315a884e0bf5aa6" providerId="LiveId" clId="{A727F5B9-E8EC-4050-BB02-D6EB960E96B3}" dt="2026-02-26T20:03:32.233" v="2902" actId="20577"/>
        <pc:sldMkLst>
          <pc:docMk/>
          <pc:sldMk cId="2052064920" sldId="285"/>
        </pc:sldMkLst>
        <pc:spChg chg="mod">
          <ac:chgData name="Archana K" userId="a315a884e0bf5aa6" providerId="LiveId" clId="{A727F5B9-E8EC-4050-BB02-D6EB960E96B3}" dt="2026-02-26T20:03:32.233" v="2902" actId="20577"/>
          <ac:spMkLst>
            <pc:docMk/>
            <pc:sldMk cId="2052064920" sldId="285"/>
            <ac:spMk id="3" creationId="{E6268E2B-8267-0A4E-EA06-D511AD87DC51}"/>
          </ac:spMkLst>
        </pc:spChg>
      </pc:sldChg>
      <pc:sldChg chg="modSp mod">
        <pc:chgData name="Archana K" userId="a315a884e0bf5aa6" providerId="LiveId" clId="{A727F5B9-E8EC-4050-BB02-D6EB960E96B3}" dt="2026-02-26T19:33:20.012" v="1788" actId="20577"/>
        <pc:sldMkLst>
          <pc:docMk/>
          <pc:sldMk cId="225669552" sldId="286"/>
        </pc:sldMkLst>
        <pc:spChg chg="mod">
          <ac:chgData name="Archana K" userId="a315a884e0bf5aa6" providerId="LiveId" clId="{A727F5B9-E8EC-4050-BB02-D6EB960E96B3}" dt="2026-02-26T19:33:20.012" v="1788" actId="20577"/>
          <ac:spMkLst>
            <pc:docMk/>
            <pc:sldMk cId="225669552" sldId="286"/>
            <ac:spMk id="5" creationId="{BE53E102-0C58-3A80-1D55-C005C187FF60}"/>
          </ac:spMkLst>
        </pc:spChg>
        <pc:spChg chg="mod">
          <ac:chgData name="Archana K" userId="a315a884e0bf5aa6" providerId="LiveId" clId="{A727F5B9-E8EC-4050-BB02-D6EB960E96B3}" dt="2026-02-26T19:31:27.800" v="1759"/>
          <ac:spMkLst>
            <pc:docMk/>
            <pc:sldMk cId="225669552" sldId="286"/>
            <ac:spMk id="9" creationId="{ED705092-6890-2CF7-5215-5B2DFF9234D3}"/>
          </ac:spMkLst>
        </pc:spChg>
      </pc:sldChg>
      <pc:sldChg chg="modSp mod">
        <pc:chgData name="Archana K" userId="a315a884e0bf5aa6" providerId="LiveId" clId="{A727F5B9-E8EC-4050-BB02-D6EB960E96B3}" dt="2026-03-01T19:16:27.411" v="3301" actId="20577"/>
        <pc:sldMkLst>
          <pc:docMk/>
          <pc:sldMk cId="1329718177" sldId="287"/>
        </pc:sldMkLst>
        <pc:spChg chg="mod">
          <ac:chgData name="Archana K" userId="a315a884e0bf5aa6" providerId="LiveId" clId="{A727F5B9-E8EC-4050-BB02-D6EB960E96B3}" dt="2026-03-01T19:16:27.411" v="3301" actId="20577"/>
          <ac:spMkLst>
            <pc:docMk/>
            <pc:sldMk cId="1329718177" sldId="287"/>
            <ac:spMk id="7" creationId="{F8AFD417-8F12-F53E-5D2F-9D1F03105FF8}"/>
          </ac:spMkLst>
        </pc:spChg>
      </pc:sldChg>
      <pc:sldChg chg="modSp mod">
        <pc:chgData name="Archana K" userId="a315a884e0bf5aa6" providerId="LiveId" clId="{A727F5B9-E8EC-4050-BB02-D6EB960E96B3}" dt="2026-02-27T14:34:26.490" v="2915"/>
        <pc:sldMkLst>
          <pc:docMk/>
          <pc:sldMk cId="2734094900" sldId="288"/>
        </pc:sldMkLst>
        <pc:graphicFrameChg chg="mod modGraphic">
          <ac:chgData name="Archana K" userId="a315a884e0bf5aa6" providerId="LiveId" clId="{A727F5B9-E8EC-4050-BB02-D6EB960E96B3}" dt="2026-02-27T14:34:26.490" v="2915"/>
          <ac:graphicFrameMkLst>
            <pc:docMk/>
            <pc:sldMk cId="2734094900" sldId="288"/>
            <ac:graphicFrameMk id="5" creationId="{44C17CAF-DD44-CDA0-DB32-06441F83D830}"/>
          </ac:graphicFrameMkLst>
        </pc:graphicFrameChg>
      </pc:sldChg>
      <pc:sldChg chg="modSp mod">
        <pc:chgData name="Archana K" userId="a315a884e0bf5aa6" providerId="LiveId" clId="{A727F5B9-E8EC-4050-BB02-D6EB960E96B3}" dt="2026-02-27T14:38:08.168" v="2957" actId="20577"/>
        <pc:sldMkLst>
          <pc:docMk/>
          <pc:sldMk cId="2058311491" sldId="289"/>
        </pc:sldMkLst>
        <pc:graphicFrameChg chg="mod modGraphic">
          <ac:chgData name="Archana K" userId="a315a884e0bf5aa6" providerId="LiveId" clId="{A727F5B9-E8EC-4050-BB02-D6EB960E96B3}" dt="2026-02-27T14:38:08.168" v="2957" actId="20577"/>
          <ac:graphicFrameMkLst>
            <pc:docMk/>
            <pc:sldMk cId="2058311491" sldId="289"/>
            <ac:graphicFrameMk id="3" creationId="{AC7927E8-1DB6-026C-6B6E-53C21B94F4D0}"/>
          </ac:graphicFrameMkLst>
        </pc:graphicFrameChg>
      </pc:sldChg>
      <pc:sldChg chg="modSp mod">
        <pc:chgData name="Archana K" userId="a315a884e0bf5aa6" providerId="LiveId" clId="{A727F5B9-E8EC-4050-BB02-D6EB960E96B3}" dt="2026-02-27T14:39:16.253" v="2960" actId="20577"/>
        <pc:sldMkLst>
          <pc:docMk/>
          <pc:sldMk cId="701048601" sldId="290"/>
        </pc:sldMkLst>
        <pc:graphicFrameChg chg="mod modGraphic">
          <ac:chgData name="Archana K" userId="a315a884e0bf5aa6" providerId="LiveId" clId="{A727F5B9-E8EC-4050-BB02-D6EB960E96B3}" dt="2026-02-27T14:39:16.253" v="2960" actId="20577"/>
          <ac:graphicFrameMkLst>
            <pc:docMk/>
            <pc:sldMk cId="701048601" sldId="290"/>
            <ac:graphicFrameMk id="3" creationId="{EBCBCD69-D437-8165-AFF4-75C4750317B5}"/>
          </ac:graphicFrameMkLst>
        </pc:graphicFrameChg>
      </pc:sldChg>
      <pc:sldChg chg="modSp mod">
        <pc:chgData name="Archana K" userId="a315a884e0bf5aa6" providerId="LiveId" clId="{A727F5B9-E8EC-4050-BB02-D6EB960E96B3}" dt="2026-02-27T14:40:16.893" v="2962"/>
        <pc:sldMkLst>
          <pc:docMk/>
          <pc:sldMk cId="2824453413" sldId="291"/>
        </pc:sldMkLst>
        <pc:graphicFrameChg chg="mod modGraphic">
          <ac:chgData name="Archana K" userId="a315a884e0bf5aa6" providerId="LiveId" clId="{A727F5B9-E8EC-4050-BB02-D6EB960E96B3}" dt="2026-02-27T14:40:16.893" v="2962"/>
          <ac:graphicFrameMkLst>
            <pc:docMk/>
            <pc:sldMk cId="2824453413" sldId="291"/>
            <ac:graphicFrameMk id="3" creationId="{3B56E153-AA7A-5E28-5D3D-52087526EB16}"/>
          </ac:graphicFrameMkLst>
        </pc:graphicFrameChg>
      </pc:sldChg>
      <pc:sldChg chg="modSp mod">
        <pc:chgData name="Archana K" userId="a315a884e0bf5aa6" providerId="LiveId" clId="{A727F5B9-E8EC-4050-BB02-D6EB960E96B3}" dt="2026-02-27T14:46:18.451" v="3076" actId="20577"/>
        <pc:sldMkLst>
          <pc:docMk/>
          <pc:sldMk cId="3441821010" sldId="292"/>
        </pc:sldMkLst>
        <pc:spChg chg="mod">
          <ac:chgData name="Archana K" userId="a315a884e0bf5aa6" providerId="LiveId" clId="{A727F5B9-E8EC-4050-BB02-D6EB960E96B3}" dt="2026-02-26T19:04:12.729" v="1339" actId="1076"/>
          <ac:spMkLst>
            <pc:docMk/>
            <pc:sldMk cId="3441821010" sldId="292"/>
            <ac:spMk id="2" creationId="{50651BB3-2151-F331-3EB9-B09F1DB56FB5}"/>
          </ac:spMkLst>
        </pc:spChg>
        <pc:graphicFrameChg chg="mod modGraphic">
          <ac:chgData name="Archana K" userId="a315a884e0bf5aa6" providerId="LiveId" clId="{A727F5B9-E8EC-4050-BB02-D6EB960E96B3}" dt="2026-02-27T14:46:18.451" v="3076" actId="20577"/>
          <ac:graphicFrameMkLst>
            <pc:docMk/>
            <pc:sldMk cId="3441821010" sldId="292"/>
            <ac:graphicFrameMk id="4" creationId="{4A6A6B3B-49DA-145D-ED8B-CE0F56997F61}"/>
          </ac:graphicFrameMkLst>
        </pc:graphicFrameChg>
      </pc:sldChg>
      <pc:sldChg chg="modSp mod">
        <pc:chgData name="Archana K" userId="a315a884e0bf5aa6" providerId="LiveId" clId="{A727F5B9-E8EC-4050-BB02-D6EB960E96B3}" dt="2026-02-27T14:47:17.575" v="3078"/>
        <pc:sldMkLst>
          <pc:docMk/>
          <pc:sldMk cId="2550379752" sldId="293"/>
        </pc:sldMkLst>
        <pc:graphicFrameChg chg="mod modGraphic">
          <ac:chgData name="Archana K" userId="a315a884e0bf5aa6" providerId="LiveId" clId="{A727F5B9-E8EC-4050-BB02-D6EB960E96B3}" dt="2026-02-27T14:47:17.575" v="3078"/>
          <ac:graphicFrameMkLst>
            <pc:docMk/>
            <pc:sldMk cId="2550379752" sldId="293"/>
            <ac:graphicFrameMk id="4" creationId="{7DBACA20-0DC0-02CB-F282-423C3EC5D8D5}"/>
          </ac:graphicFrameMkLst>
        </pc:graphicFrameChg>
      </pc:sldChg>
      <pc:sldChg chg="modSp mod">
        <pc:chgData name="Archana K" userId="a315a884e0bf5aa6" providerId="LiveId" clId="{A727F5B9-E8EC-4050-BB02-D6EB960E96B3}" dt="2026-02-27T14:50:18.014" v="3100" actId="1076"/>
        <pc:sldMkLst>
          <pc:docMk/>
          <pc:sldMk cId="246267388" sldId="295"/>
        </pc:sldMkLst>
        <pc:spChg chg="mod">
          <ac:chgData name="Archana K" userId="a315a884e0bf5aa6" providerId="LiveId" clId="{A727F5B9-E8EC-4050-BB02-D6EB960E96B3}" dt="2026-02-26T17:33:21.267" v="460" actId="1076"/>
          <ac:spMkLst>
            <pc:docMk/>
            <pc:sldMk cId="246267388" sldId="295"/>
            <ac:spMk id="2" creationId="{AEC5300D-48C2-22EB-FECA-1DD2008A7B6B}"/>
          </ac:spMkLst>
        </pc:spChg>
        <pc:spChg chg="mod">
          <ac:chgData name="Archana K" userId="a315a884e0bf5aa6" providerId="LiveId" clId="{A727F5B9-E8EC-4050-BB02-D6EB960E96B3}" dt="2026-02-27T14:50:18.014" v="3100" actId="1076"/>
          <ac:spMkLst>
            <pc:docMk/>
            <pc:sldMk cId="246267388" sldId="295"/>
            <ac:spMk id="4" creationId="{7D42A799-DDE4-F223-0628-9DBDBE98F373}"/>
          </ac:spMkLst>
        </pc:spChg>
      </pc:sldChg>
      <pc:sldChg chg="modSp mod">
        <pc:chgData name="Archana K" userId="a315a884e0bf5aa6" providerId="LiveId" clId="{A727F5B9-E8EC-4050-BB02-D6EB960E96B3}" dt="2026-02-27T14:55:01.445" v="3112" actId="1076"/>
        <pc:sldMkLst>
          <pc:docMk/>
          <pc:sldMk cId="3114860127" sldId="296"/>
        </pc:sldMkLst>
        <pc:spChg chg="mod">
          <ac:chgData name="Archana K" userId="a315a884e0bf5aa6" providerId="LiveId" clId="{A727F5B9-E8EC-4050-BB02-D6EB960E96B3}" dt="2026-02-27T14:55:01.445" v="3112" actId="1076"/>
          <ac:spMkLst>
            <pc:docMk/>
            <pc:sldMk cId="3114860127" sldId="296"/>
            <ac:spMk id="4" creationId="{9534D90E-A9D5-1D69-529A-851D623A43FF}"/>
          </ac:spMkLst>
        </pc:spChg>
      </pc:sldChg>
      <pc:sldChg chg="addSp delSp modSp new mod">
        <pc:chgData name="Archana K" userId="a315a884e0bf5aa6" providerId="LiveId" clId="{A727F5B9-E8EC-4050-BB02-D6EB960E96B3}" dt="2026-02-27T15:46:01.432" v="3295" actId="20577"/>
        <pc:sldMkLst>
          <pc:docMk/>
          <pc:sldMk cId="1831597478" sldId="299"/>
        </pc:sldMkLst>
        <pc:spChg chg="mod">
          <ac:chgData name="Archana K" userId="a315a884e0bf5aa6" providerId="LiveId" clId="{A727F5B9-E8EC-4050-BB02-D6EB960E96B3}" dt="2026-02-27T15:46:01.432" v="3295" actId="20577"/>
          <ac:spMkLst>
            <pc:docMk/>
            <pc:sldMk cId="1831597478" sldId="299"/>
            <ac:spMk id="2" creationId="{8B2E687E-E1F9-006E-DC38-659761C8DEE9}"/>
          </ac:spMkLst>
        </pc:spChg>
        <pc:picChg chg="add mod">
          <ac:chgData name="Archana K" userId="a315a884e0bf5aa6" providerId="LiveId" clId="{A727F5B9-E8EC-4050-BB02-D6EB960E96B3}" dt="2026-02-27T15:45:47.731" v="3294" actId="14100"/>
          <ac:picMkLst>
            <pc:docMk/>
            <pc:sldMk cId="1831597478" sldId="299"/>
            <ac:picMk id="9" creationId="{8B6D2600-03F0-086D-D1A5-554C6A9BE625}"/>
          </ac:picMkLst>
        </pc:picChg>
        <pc:picChg chg="add mod modCrop">
          <ac:chgData name="Archana K" userId="a315a884e0bf5aa6" providerId="LiveId" clId="{A727F5B9-E8EC-4050-BB02-D6EB960E96B3}" dt="2026-02-27T15:45:37.067" v="3290" actId="14100"/>
          <ac:picMkLst>
            <pc:docMk/>
            <pc:sldMk cId="1831597478" sldId="299"/>
            <ac:picMk id="11" creationId="{B44D494C-E269-9671-CB66-FE8828C69335}"/>
          </ac:picMkLst>
        </pc:picChg>
        <pc:picChg chg="add mod">
          <ac:chgData name="Archana K" userId="a315a884e0bf5aa6" providerId="LiveId" clId="{A727F5B9-E8EC-4050-BB02-D6EB960E96B3}" dt="2026-02-26T18:02:50.297" v="578" actId="1076"/>
          <ac:picMkLst>
            <pc:docMk/>
            <pc:sldMk cId="1831597478" sldId="299"/>
            <ac:picMk id="13" creationId="{B26AC2B9-93D2-8E70-3A9A-78F8B5B33C14}"/>
          </ac:picMkLst>
        </pc:picChg>
        <pc:picChg chg="add mod">
          <ac:chgData name="Archana K" userId="a315a884e0bf5aa6" providerId="LiveId" clId="{A727F5B9-E8EC-4050-BB02-D6EB960E96B3}" dt="2026-02-26T18:04:20.830" v="591" actId="1076"/>
          <ac:picMkLst>
            <pc:docMk/>
            <pc:sldMk cId="1831597478" sldId="299"/>
            <ac:picMk id="15" creationId="{EFC243AE-4FE0-616C-636A-78A7A9EDB8D8}"/>
          </ac:picMkLst>
        </pc:picChg>
      </pc:sldChg>
      <pc:sldChg chg="addSp delSp modSp new mod">
        <pc:chgData name="Archana K" userId="a315a884e0bf5aa6" providerId="LiveId" clId="{A727F5B9-E8EC-4050-BB02-D6EB960E96B3}" dt="2026-02-27T14:55:51.122" v="3114" actId="20577"/>
        <pc:sldMkLst>
          <pc:docMk/>
          <pc:sldMk cId="4223991669" sldId="300"/>
        </pc:sldMkLst>
        <pc:spChg chg="mod">
          <ac:chgData name="Archana K" userId="a315a884e0bf5aa6" providerId="LiveId" clId="{A727F5B9-E8EC-4050-BB02-D6EB960E96B3}" dt="2026-02-26T18:05:10.321" v="599" actId="1076"/>
          <ac:spMkLst>
            <pc:docMk/>
            <pc:sldMk cId="4223991669" sldId="300"/>
            <ac:spMk id="2" creationId="{3E7E8B34-DEAC-A19F-73D1-B3A490127962}"/>
          </ac:spMkLst>
        </pc:spChg>
        <pc:spChg chg="add mod">
          <ac:chgData name="Archana K" userId="a315a884e0bf5aa6" providerId="LiveId" clId="{A727F5B9-E8EC-4050-BB02-D6EB960E96B3}" dt="2026-02-27T14:55:51.122" v="3114" actId="20577"/>
          <ac:spMkLst>
            <pc:docMk/>
            <pc:sldMk cId="4223991669" sldId="300"/>
            <ac:spMk id="13" creationId="{A73F0353-0EA9-4790-0C26-0064F06E212C}"/>
          </ac:spMkLst>
        </pc:spChg>
      </pc:sldChg>
      <pc:sldChg chg="modSp new mod">
        <pc:chgData name="Archana K" userId="a315a884e0bf5aa6" providerId="LiveId" clId="{A727F5B9-E8EC-4050-BB02-D6EB960E96B3}" dt="2026-02-27T15:29:56.549" v="3184" actId="1076"/>
        <pc:sldMkLst>
          <pc:docMk/>
          <pc:sldMk cId="3728238547" sldId="301"/>
        </pc:sldMkLst>
        <pc:spChg chg="mod">
          <ac:chgData name="Archana K" userId="a315a884e0bf5aa6" providerId="LiveId" clId="{A727F5B9-E8EC-4050-BB02-D6EB960E96B3}" dt="2026-02-26T19:40:06.370" v="1894" actId="14100"/>
          <ac:spMkLst>
            <pc:docMk/>
            <pc:sldMk cId="3728238547" sldId="301"/>
            <ac:spMk id="2" creationId="{220CD185-8DC5-1419-4451-35D097E9D7C9}"/>
          </ac:spMkLst>
        </pc:spChg>
        <pc:spChg chg="mod">
          <ac:chgData name="Archana K" userId="a315a884e0bf5aa6" providerId="LiveId" clId="{A727F5B9-E8EC-4050-BB02-D6EB960E96B3}" dt="2026-02-27T15:29:56.549" v="3184" actId="1076"/>
          <ac:spMkLst>
            <pc:docMk/>
            <pc:sldMk cId="3728238547" sldId="301"/>
            <ac:spMk id="3" creationId="{EC66D9A6-CAAC-2FE1-5D40-C668CC982C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dictive-main-6zqfnrdbtguflkfgf3vym3.streamlit.app/" TargetMode="External"/><Relationship Id="rId2" Type="http://schemas.openxmlformats.org/officeDocument/2006/relationships/hyperlink" Target="https://github.com/darshan99009/IST_27-Capstone_Project/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2" name="Google Shape;87;p13"/>
          <p:cNvSpPr txBox="1">
            <a:spLocks/>
          </p:cNvSpPr>
          <p:nvPr/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STUDENT INNOVATION:SWADESHI FOR ATMANIRBHAR BHARAT-</a:t>
            </a:r>
            <a:b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</a:br>
            <a:r>
              <a:rPr kumimoji="0" 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SMART </a:t>
            </a:r>
            <a:r>
              <a:rPr kumimoji="0" lang="en-GB" altLang="en-GB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AUTOMATION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3" name="Google Shape;88;p13"/>
          <p:cNvSpPr txBox="1">
            <a:spLocks/>
          </p:cNvSpPr>
          <p:nvPr/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Batch Number:</a:t>
            </a:r>
            <a:r>
              <a:rPr kumimoji="0" 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IST</a:t>
            </a:r>
            <a:r>
              <a:rPr kumimoji="0" lang="en-GB" altLang="en-GB" sz="1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_27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4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Under the Supervision of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1800" dirty="0">
              <a:latin typeface="Cambria" pitchFamily="18" charset="0"/>
              <a:ea typeface="Cambria" pitchFamily="18" charset="0"/>
            </a:endParaRP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Dr. </a:t>
            </a:r>
            <a:r>
              <a:rPr lang="en-US" sz="2000" b="1" dirty="0" err="1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Afroz</a:t>
            </a:r>
            <a:r>
              <a:rPr lang="en-US" sz="20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Pasha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, PhD,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M.Tech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., B.E.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Assistant Professor - Senior Scale </a:t>
            </a:r>
          </a:p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School of Computer Science and Engineering Presidency University </a:t>
            </a: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35" name="Google Shape;89;p13"/>
          <p:cNvGraphicFramePr>
            <a:graphicFrameLocks/>
          </p:cNvGraphicFramePr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itchFamily="18" charset="0"/>
              <a:ea typeface="Cambria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37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Information Science And Technology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DR. PALLAVI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R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MS. BENITHA CHRISTINAL </a:t>
            </a:r>
            <a:r>
              <a:rPr lang="en-US" sz="18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  <a:cs typeface="Times New Roman" panose="02020603050405020304" pitchFamily="18" charset="0"/>
                <a:sym typeface="Verdana"/>
              </a:rPr>
              <a:t>J</a:t>
            </a:r>
            <a:endParaRPr lang="en-US" sz="1800" b="1" dirty="0" smtClean="0">
              <a:solidFill>
                <a:srgbClr val="FF0000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tx1"/>
              </a:solidFill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graphicFrame>
        <p:nvGraphicFramePr>
          <p:cNvPr id="38" name="Table 1"/>
          <p:cNvGraphicFramePr>
            <a:graphicFrameLocks noGrp="1"/>
          </p:cNvGraphicFramePr>
          <p:nvPr/>
        </p:nvGraphicFramePr>
        <p:xfrm>
          <a:off x="570669" y="2676653"/>
          <a:ext cx="5488299" cy="1483360"/>
        </p:xfrm>
        <a:graphic>
          <a:graphicData uri="http://schemas.openxmlformats.org/drawingml/2006/table">
            <a:tbl>
              <a:tblPr firstRow="1" bandRow="1"/>
              <a:tblGrid>
                <a:gridCol w="1807420"/>
                <a:gridCol w="3680879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55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DARSHAN GOWDA S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69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CHETHAN C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20221IST0</a:t>
                      </a:r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112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CHIRAG GOWDA SV</a:t>
                      </a:r>
                      <a:endParaRPr lang="en-IN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Google Shape;96;p14"/>
          <p:cNvSpPr txBox="1">
            <a:spLocks/>
          </p:cNvSpPr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7365D"/>
              </a:buClr>
              <a:buSzPts val="2800"/>
            </a:pP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Problem Statement Number: </a:t>
            </a:r>
            <a:r>
              <a:rPr lang="en-US" sz="2800" b="1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>SIH25135</a:t>
            </a:r>
            <a:r>
              <a:rPr lang="en-US" sz="2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kumimoji="0" lang="en-GB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 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13" name="Google Shape;97;p14"/>
          <p:cNvSpPr txBox="1">
            <a:spLocks/>
          </p:cNvSpPr>
          <p:nvPr/>
        </p:nvSpPr>
        <p:spPr>
          <a:xfrm>
            <a:off x="761999" y="952499"/>
            <a:ext cx="10668000" cy="18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833" lnSpcReduction="10000"/>
          </a:bodyPr>
          <a:lstStyle/>
          <a:p>
            <a:pPr marL="342900" marR="0" lvl="0" indent="-190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Organization: </a:t>
            </a: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AICTE</a:t>
            </a:r>
          </a:p>
          <a:p>
            <a:pPr marL="342900" marR="0" lvl="0" indent="-1905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Category (Hardware / Software / Both) :Software</a:t>
            </a: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" pitchFamily="18" charset="0"/>
              <a:ea typeface="Verdana"/>
              <a:cs typeface="Verdana"/>
              <a:sym typeface="Verdana"/>
            </a:endParaRPr>
          </a:p>
          <a:p>
            <a:pPr marL="342900" marR="0" lvl="0" indent="-1905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Verdana"/>
                <a:sym typeface="Verdana"/>
              </a:rPr>
              <a:t>Problem Description :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6905" y="2540000"/>
            <a:ext cx="10250905" cy="34778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Industrial equipment failures lead to unplanned downtime; hence, productivity is duly reduced with increased operational costs.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Traditional approaches to maintenance are either reactive-after failure-or time-based and scheduled, mostly quite inefficient.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objective of the project is to develop a Predictive Maintenance System with Machine Learning.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system will analyze equipment operational data to find patterns that indicate early failure.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It will also predict equipment breakdowns prior to the actual occurrence.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solution allows customers to proactively plan maintenance, thus reducing downtime, costs of maintenance, and operational risks.</a:t>
            </a:r>
            <a:endParaRPr lang="en-GB" sz="2000" dirty="0">
              <a:solidFill>
                <a:srgbClr val="00000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Content: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96789" y="1087130"/>
            <a:ext cx="11595211" cy="549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72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 </a:t>
            </a: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Proposed </a:t>
            </a:r>
            <a:r>
              <a:rPr lang="en-US" sz="7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SolutionFinal</a:t>
            </a:r>
            <a:r>
              <a:rPr lang="en-US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 Layered System Architecture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Backend)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&amp; Deployment Environment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Project Status</a:t>
            </a:r>
          </a:p>
          <a:p>
            <a:pPr>
              <a:lnSpc>
                <a:spcPct val="150000"/>
              </a:lnSpc>
            </a:pPr>
            <a:r>
              <a:rPr lang="en-IN" sz="7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 Repository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</a:p>
          <a:p>
            <a:pPr>
              <a:lnSpc>
                <a:spcPct val="150000"/>
              </a:lnSpc>
            </a:pPr>
            <a:r>
              <a:rPr lang="en-IN" sz="72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Abstract: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70347" y="988946"/>
            <a:ext cx="11611897" cy="4654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Aircraft turbofan engines require precise maintenance scheduling to prevent catastrophic failure and reduce operational costs.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 This project proposes 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Hybrid </a:t>
            </a:r>
            <a:r>
              <a:rPr lang="en-US" sz="1800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–LSTM Ensemble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for predicting the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Remaining Useful Life (RUL)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of turbofan engines 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Built on the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NASA C-MAPSS benchmark dataset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— 4 sub-configurations covering varying operating conditions and fault modes 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The LSTM captures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sequential degradation patterns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from sensor time-series;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learns from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engineered statistical features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dataset-specific blending weight α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optimally combines both model predictions.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 Achieves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RMSE of 15.58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FD001 and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23.56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FD004 — consistently outperforming both individual models </a:t>
            </a:r>
          </a:p>
          <a:p>
            <a:pPr marL="4381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Deployed as a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interactive </a:t>
            </a:r>
            <a:r>
              <a:rPr lang="en-US" sz="1800" b="1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 dashboard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on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Cloud with real-time fleet monitoring and maintenance alerts</a:t>
            </a:r>
            <a:endParaRPr sz="18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F6C69A-89AE-87EE-7666-3018931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16418"/>
            <a:ext cx="10668000" cy="45719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76000D5-BD05-9671-CA1E-E8489CD55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181" y="941752"/>
            <a:ext cx="11223522" cy="497449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Aircraft engines degrade gradually over time — but operators have no reliable way to know exactly when an engine will need maintenance until it's too late or too early 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Fixing engines after failure is dangerous. Replacing parts on fixed schedules is wasteful. Neither approach is smart.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The real question is —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can we look at what the engine's sensors are already telling us and predict exactly how much life it has left?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Cambria" pitchFamily="18" charset="0"/>
                <a:ea typeface="Cambria" pitchFamily="18" charset="0"/>
              </a:rPr>
              <a:t>The challenge is that engines don't all degrade the same way — different fault types, different operating conditions, and noisy sensor readings make this far harder than a simple trend line .</a:t>
            </a:r>
            <a:endParaRPr lang="en-IN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1038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Google Shape;114;p17"/>
          <p:cNvSpPr txBox="1">
            <a:spLocks/>
          </p:cNvSpPr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+mj-lt"/>
                <a:ea typeface="Verdana"/>
                <a:cs typeface="Verdana"/>
                <a:sym typeface="Verdan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+mj-lt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+mn-lt"/>
                <a:ea typeface="Cambria" panose="02040503050406030204" pitchFamily="18" charset="0"/>
              </a:rPr>
              <a:t> 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0465" y="1126068"/>
          <a:ext cx="10930470" cy="4495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05510"/>
                <a:gridCol w="1824992"/>
                <a:gridCol w="1824992"/>
                <a:gridCol w="1824992"/>
                <a:gridCol w="1824992"/>
                <a:gridCol w="1824992"/>
              </a:tblGrid>
              <a:tr h="9424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Open Research Issues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AI-Powered Predictive Maintenance System for Industrial Equipment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Abdul Aziz,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Sowmyashree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P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Hybrid AI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sensor data,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Autoencoder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for anomaly detection, Gradient Boosting and LSTM for failure prediction, Hybrid health index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Precision, Recall, F1-score, Remaining Useful Life (RUL) MAE, downtime reduction, false alarm rate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Limited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labelled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failure data, heterogeneous sensor data integration, real-time deployment challenges, lack of explainable AI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877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on Machinery Diagnostics and Prognostics Implementing Condition-Based Maintenance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Andrew K.S.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Jardine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Daming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Lin,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Dragan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Banjevic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2006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Condition-Based Maintenance framework involving data acquisition, signal processing, diagnostics and prognostics techniques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fault detection accuracy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Multi-sensor data fusion complexity, lack of standardized frameworks, real-time analytics limitations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779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Comparing Deep Learning and Fourier Series Models for Equipment Failure Prediction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Houria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Abouloifa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Mohamed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Bahaj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Comparative predictive maintenance using Fourier series signal model and LSTM deep learning time-series prediction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MAE, MSE, RMSE, statistical significance testing, confidence interval validation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Lack of real industrial datasets, computational cost of DL models, integration difficulties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38305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219200"/>
          <a:ext cx="10972800" cy="450426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8330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Comparison of Deep Learning Models for Predictive Maintenance in Industrial Manufacturing Systems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Wenjun Li, Ting Li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Deep learning PdM using CNN, LSTM and CNN-LSTM hybrid architectures for failure prediction and RUL estimation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Accuracy, F1-score, model robustness, generalization performance, feature importance analysis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Condition Monitoring and Predictive Maintenance in Industrial Equipment: NLP-Assisted Review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Jose Garcia, Luis Rios-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Colque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Alvaro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Peña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Luis Rojas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NLP-based systematic literature review including ML, DL, signal processing methods (FFT, Wavelets, CEEMDAN) and hybrid physics-data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Fault detection accuracy, RUL accuracy, deployment feasibility, energy efficiency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0698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Based Predictive Maintenance in Industrial Machinery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Himmat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Singh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IoT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architecture using sensor networks, cloud analytics, ML-based failure prediction and real-time monitoring dashboard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Reliability improvement, maintenance cost reduction, breakdown reduction, equipment lifespan improvement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10" name="Title 4"/>
          <p:cNvSpPr txBox="1">
            <a:spLocks/>
          </p:cNvSpPr>
          <p:nvPr/>
        </p:nvSpPr>
        <p:spPr>
          <a:xfrm>
            <a:off x="914400" y="2125980"/>
            <a:ext cx="1036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382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3409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1219200"/>
          <a:ext cx="10507130" cy="432646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101426"/>
                <a:gridCol w="2101426"/>
                <a:gridCol w="2101426"/>
                <a:gridCol w="2101426"/>
                <a:gridCol w="2101426"/>
              </a:tblGrid>
              <a:tr h="8484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Existing Research (Authors)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Ref / Year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</a:rPr>
                        <a:t>Evaluation Metrics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Machine Learning-Based Predictive Maintenance of Industrial Machines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Chaitali Patil, Sanika Jadhav, Asmeeta Bardiya, Ankita Davande, Mahee Raverkar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system using Random Forest, SVM and Decision Tree, sensor monitoring, edge-cloud processing, alert generation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accuracy, feature selection performance, downtime reduction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Predictive Maintenance using Machine Learning in Industrial IoT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Jesu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Narkarunai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Arasu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Malaiyappan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Gowrisankar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Krishnamoorthy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Suhas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Jangoan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ML &amp; DL techniques in IIoT including ANN models, deep learning prediction, real-time stream processing, cyber-physical system integration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Prediction latency, system reliability, real-time processing efficiency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15934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A Review of Predictive Maintenance Methods for Electrical Machines Using ML Algorithms and Sensor Data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Nandni Sharma, Cheshtha Chauhan, Anju Dwivedi, Sanchita Dass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ML-based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  <a:cs typeface="Times New Roman"/>
                        </a:rPr>
                        <a:t>PdM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using Motor Current Signature Analysis, multi-sensor fusion, SVM, Random Forest, CNN, LSTM models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Accuracy, Precision, Recall, multi-modal sensor performance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6" name="Title 5"/>
          <p:cNvSpPr txBox="1">
            <a:spLocks/>
          </p:cNvSpPr>
          <p:nvPr/>
        </p:nvSpPr>
        <p:spPr>
          <a:xfrm>
            <a:off x="914400" y="2125980"/>
            <a:ext cx="1036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Verdana"/>
                <a:ea typeface="Verdana"/>
                <a:cs typeface="Verdana"/>
                <a:sym typeface="Verdana"/>
              </a:rPr>
              <a:t>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0600" y="30480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Literature Survey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7365D"/>
              </a:solidFill>
              <a:effectLst/>
              <a:uLnTx/>
              <a:uFillTx/>
              <a:latin typeface="Cambria"/>
              <a:ea typeface="+mj-ea"/>
              <a:cs typeface="Cambri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5831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923" y="258012"/>
            <a:ext cx="10668000" cy="487500"/>
          </a:xfrm>
        </p:spPr>
        <p:txBody>
          <a:bodyPr/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Research Gap Identification 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Existing studies validate CNN, LSTM, SVM, and Random Forest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individually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— but no work combines a sequential model with a statistical model and optimally blends them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Multi-condition datasets (6 operating regimes) are widely ignored — sensor baseline shifts are mistaken for degradation signals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LSTM models in literature treat all time steps equally — no attention mechanism to focus on the degradation phase 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Research stops at the model — none of the surveyed papers connect predictions to a usable, real-time maintenance interface 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No system monitors an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entire fleet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, ranks urgency, and prioritizes which engines need action today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Explainability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is consistently flagged as future work — feature importance and sensor-level visualization are absent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0864F7-4226-7B2F-5E72-291B55EA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73606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Research Gap Justification: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0919" y="1168949"/>
            <a:ext cx="8792499" cy="479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0851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14FDCD-6B7B-B8F5-C58C-893C4B55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973"/>
            <a:ext cx="10668000" cy="487500"/>
          </a:xfrm>
        </p:spPr>
        <p:txBody>
          <a:bodyPr/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Research Gap Justification: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9534D90E-A9D5-1D69-529A-851D623A4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3594" y="1223578"/>
            <a:ext cx="11631561" cy="456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Every paper we reviewed solved a piece of the puzzle — but nobody put the whole picture together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Studies that used LSTM were great at reading time-series but blind to statistical patterns. Studies that used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were great at feature learning but couldn't track degradation over time. 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Multi-condition engines were either avoided entirely or preprocessed in ways that destroyed the degradation signal. Nobody asked what happens when the same engine runs at 6 different altitudes 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 models in literature make a prediction and stop. There's no next step — no "so what do I do with this number?" — no maintenance team in the loop</a:t>
            </a:r>
          </a:p>
          <a:p>
            <a:pPr marL="76200" indent="0">
              <a:lnSpc>
                <a:spcPct val="150000"/>
              </a:lnSpc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 Most critically — none of the 9 papers we surveyed were tested on all 4 C-MAPSS sub-datasets together, meaning their results only hold under the easiest conditions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1486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9FD729-6306-195F-3BD3-65D4E0F4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53E7914-B4DA-C382-F98A-E651E4E5F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76" y="952500"/>
            <a:ext cx="11513575" cy="49530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Build a model that doesn't just predict RUL — but predicts it accurately across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all four dataset configurations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, from the simplest single-condition setup to the hardest multi-condition, multi-fault scenario 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Combine an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LSTM with Attention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(reads the sensor history like a timeline) and </a:t>
            </a:r>
            <a:r>
              <a:rPr lang="en-US" sz="1700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(picks up statistical patterns the LSTM can't see) into one hybrid system that's stronger than either alone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 Solve the multi-condition problem head-on — use </a:t>
            </a:r>
            <a:r>
              <a:rPr lang="en-US" sz="1700" b="1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 clustering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to identify operating regimes and normalize sensors within each one, so the model sees degradation, not flight conditions 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Make the training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robust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— use Huber Loss so a few unusual engines don't derail the entire learning process 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Don't stop at the model — connect every prediction to a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live dashboard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where a maintenance team can see which engines are critical, which are fine, and what to do next </a:t>
            </a:r>
          </a:p>
          <a:p>
            <a:pPr>
              <a:lnSpc>
                <a:spcPct val="170000"/>
              </a:lnSpc>
            </a:pPr>
            <a:r>
              <a:rPr lang="en-US" sz="1700" dirty="0" smtClean="0">
                <a:latin typeface="Cambria" pitchFamily="18" charset="0"/>
                <a:ea typeface="Cambria" pitchFamily="18" charset="0"/>
              </a:rPr>
              <a:t>Make the system </a:t>
            </a:r>
            <a:r>
              <a:rPr lang="en-US" sz="1700" b="1" dirty="0" smtClean="0">
                <a:latin typeface="Cambria" pitchFamily="18" charset="0"/>
                <a:ea typeface="Cambria" pitchFamily="18" charset="0"/>
              </a:rPr>
              <a:t>explainable</a:t>
            </a:r>
            <a:r>
              <a:rPr lang="en-US" sz="1700" dirty="0" smtClean="0">
                <a:latin typeface="Cambria" pitchFamily="18" charset="0"/>
                <a:ea typeface="Cambria" pitchFamily="18" charset="0"/>
              </a:rPr>
              <a:t> — show which sensors are driving the prediction and how they're trending over time</a:t>
            </a:r>
            <a:endParaRPr lang="en-IN" sz="17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0716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73587" y="952500"/>
            <a:ext cx="11346426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Instead of picking one model and hoping it covers everything — we run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two models in parallel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and let them cover each other's blind spots</a:t>
            </a:r>
          </a:p>
          <a:p>
            <a:r>
              <a:rPr lang="en-US" b="1" dirty="0" smtClean="0">
                <a:latin typeface="Cambria" pitchFamily="18" charset="0"/>
                <a:ea typeface="Cambria" pitchFamily="18" charset="0"/>
              </a:rPr>
              <a:t>LSTM with Attention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reads the engine's sensor history cycle by cycle, focusing on the moments where degradation actually starts showing up</a:t>
            </a:r>
          </a:p>
          <a:p>
            <a:r>
              <a:rPr lang="en-US" b="1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takes the same data, computes 112 statistical features across all 14 sensors, and finds patterns the LSTM can't see in raw sequences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Both make a prediction — then a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learned blending weight α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combines them into one final RUL estimate that's more accurate than either alone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Before any of this, the data goes through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operating condition normalization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so the models see true degradation — not just altitude changes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The output doesn't stop at a number — it feeds directly into a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live dashboard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that tells a maintenance team exactly which engines need attention and when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045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 Layered </a:t>
            </a: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Architecture: 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4C3FBF2-530B-E360-49A5-1CF992AE95B7}"/>
              </a:ext>
            </a:extLst>
          </p:cNvPr>
          <p:cNvSpPr txBox="1"/>
          <p:nvPr/>
        </p:nvSpPr>
        <p:spPr>
          <a:xfrm>
            <a:off x="761999" y="2044244"/>
            <a:ext cx="10667999" cy="367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3535" y="1085824"/>
            <a:ext cx="9659389" cy="4763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7989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E53E102-0C58-3A80-1D55-C005C187FF60}"/>
              </a:ext>
            </a:extLst>
          </p:cNvPr>
          <p:cNvSpPr txBox="1"/>
          <p:nvPr/>
        </p:nvSpPr>
        <p:spPr>
          <a:xfrm>
            <a:off x="639098" y="1156144"/>
            <a:ext cx="112677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The system is designed as a five-layer pipeline where each layer has a single responsibility and passes its output upward to the next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Data Layer</a:t>
            </a:r>
            <a:r>
              <a:rPr lang="en-US" sz="2000" dirty="0" smtClean="0"/>
              <a:t> sits at the foundation — it accepts raw C-MAPSS test files containing 26 sensor and operational channels per engine cycle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Preprocessing Layer</a:t>
            </a:r>
            <a:r>
              <a:rPr lang="en-US" sz="2000" dirty="0" smtClean="0"/>
              <a:t> cleans and transforms the raw input — irrelevant sensors are dropped, operating conditions are normalized via </a:t>
            </a:r>
            <a:r>
              <a:rPr lang="en-US" sz="2000" dirty="0" err="1" smtClean="0"/>
              <a:t>KMeans</a:t>
            </a:r>
            <a:r>
              <a:rPr lang="en-US" sz="2000" dirty="0" smtClean="0"/>
              <a:t> clustering, RUL is capped at 125, and 50-cycle sequences are constructed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Inference Layer</a:t>
            </a:r>
            <a:r>
              <a:rPr lang="en-US" sz="2000" dirty="0" smtClean="0"/>
              <a:t> runs two models in parallel — the LSTM with Attention processes the temporal sequence while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 processes the 112-dimensional statistical feature vector, each producing an independent RUL estimate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Ensemble Layer</a:t>
            </a:r>
            <a:r>
              <a:rPr lang="en-US" sz="2000" dirty="0" smtClean="0"/>
              <a:t> combines both outputs using the learned blending weight α, applies RUL clipping to [0, 125], and assigns a maintenance status — Critical, Warning, or Healthy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Presentation Layer</a:t>
            </a:r>
            <a:r>
              <a:rPr lang="en-US" sz="2000" dirty="0" smtClean="0"/>
              <a:t> delivers the final results through the </a:t>
            </a:r>
            <a:r>
              <a:rPr lang="en-US" sz="2000" dirty="0" err="1" smtClean="0"/>
              <a:t>Streamlit</a:t>
            </a:r>
            <a:r>
              <a:rPr lang="en-US" sz="2000" dirty="0" smtClean="0"/>
              <a:t> dashboard — engine gauges, fleet </a:t>
            </a:r>
            <a:r>
              <a:rPr lang="en-US" sz="2000" dirty="0" err="1" smtClean="0"/>
              <a:t>heatmaps</a:t>
            </a:r>
            <a:r>
              <a:rPr lang="en-US" sz="2000" dirty="0" smtClean="0"/>
              <a:t>, maintenance alerts, sensor degradation plots, and feature importance charts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D705092-6890-2CF7-5215-5B2DFF9234D3}"/>
              </a:ext>
            </a:extLst>
          </p:cNvPr>
          <p:cNvSpPr txBox="1"/>
          <p:nvPr/>
        </p:nvSpPr>
        <p:spPr>
          <a:xfrm>
            <a:off x="757085" y="245806"/>
            <a:ext cx="8386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Layered System Architecture:</a:t>
            </a:r>
          </a:p>
        </p:txBody>
      </p:sp>
    </p:spTree>
    <p:extLst>
      <p:ext uri="{BB962C8B-B14F-4D97-AF65-F5344CB8AC3E}">
        <p14:creationId xmlns="" xmlns:p14="http://schemas.microsoft.com/office/powerpoint/2010/main" val="225669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 &amp; Evaluation Metrics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Dataset:</a:t>
            </a:r>
            <a:r>
              <a:rPr lang="en-US" dirty="0" smtClean="0"/>
              <a:t> NASA C-MAPSS (FD001, FD002, FD003, FD004)</a:t>
            </a:r>
          </a:p>
          <a:p>
            <a:r>
              <a:rPr lang="en-US" b="1" dirty="0" smtClean="0"/>
              <a:t>Hardware:</a:t>
            </a:r>
            <a:r>
              <a:rPr lang="en-US" dirty="0" smtClean="0"/>
              <a:t> Tesla T4 GPU (15.6 GB VRAM)</a:t>
            </a:r>
          </a:p>
          <a:p>
            <a:r>
              <a:rPr lang="en-US" b="1" dirty="0" smtClean="0"/>
              <a:t>Data Split:</a:t>
            </a:r>
            <a:r>
              <a:rPr lang="en-US" dirty="0" smtClean="0"/>
              <a:t> 85% Train / 10% Validation / 5% Holdout (Engine-level, no leakage)</a:t>
            </a:r>
          </a:p>
          <a:p>
            <a:r>
              <a:rPr lang="en-US" b="1" dirty="0" smtClean="0"/>
              <a:t>LSTM Epochs:</a:t>
            </a:r>
            <a:r>
              <a:rPr lang="en-US" dirty="0" smtClean="0"/>
              <a:t> 100 (FD001/FD003) | 120 (FD002/FD004)</a:t>
            </a:r>
          </a:p>
          <a:p>
            <a:r>
              <a:rPr lang="en-US" b="1" dirty="0" smtClean="0"/>
              <a:t>Loss Function:</a:t>
            </a:r>
            <a:r>
              <a:rPr lang="en-US" dirty="0" smtClean="0"/>
              <a:t> Huber Loss (</a:t>
            </a:r>
            <a:r>
              <a:rPr lang="el-GR" dirty="0" smtClean="0"/>
              <a:t>δ = 10) </a:t>
            </a:r>
            <a:r>
              <a:rPr lang="en-US" dirty="0" smtClean="0"/>
              <a:t>for outlier robustness</a:t>
            </a:r>
          </a:p>
          <a:p>
            <a:r>
              <a:rPr lang="en-US" b="1" dirty="0" smtClean="0"/>
              <a:t>Random Seed:</a:t>
            </a:r>
            <a:r>
              <a:rPr lang="en-US" dirty="0" smtClean="0"/>
              <a:t> 42 (Full reproducibility)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 Table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13410" y="881149"/>
          <a:ext cx="10257906" cy="5220392"/>
        </p:xfrm>
        <a:graphic>
          <a:graphicData uri="http://schemas.openxmlformats.org/drawingml/2006/table">
            <a:tbl>
              <a:tblPr firstRow="1" bandRow="1"/>
              <a:tblGrid>
                <a:gridCol w="3419302"/>
                <a:gridCol w="3419302"/>
                <a:gridCol w="3419302"/>
              </a:tblGrid>
              <a:tr h="9527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Metric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Formula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Interpretation</a:t>
                      </a:r>
                    </a:p>
                  </a:txBody>
                  <a:tcPr marL="101600" marR="101600" marT="63500" marB="63500" anchor="ctr"/>
                </a:tc>
              </a:tr>
              <a:tr h="14225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RMSE ↓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√(Σ(ŷᵢ - yᵢ)² / N)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Sensitive to large errors. Safety-critical.</a:t>
                      </a:r>
                    </a:p>
                  </a:txBody>
                  <a:tcPr marL="101600" marT="63500" marB="63500" anchor="ctr"/>
                </a:tc>
              </a:tr>
              <a:tr h="14225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MAE ↓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Σ|ŷᵢ - yᵢ| / 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Average prediction error in cycles.</a:t>
                      </a:r>
                    </a:p>
                  </a:txBody>
                  <a:tcPr marL="101600" marT="63500" marB="63500" anchor="ctr"/>
                </a:tc>
              </a:tr>
              <a:tr h="142255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R² ↑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1 - (</a:t>
                      </a:r>
                      <a:r>
                        <a:rPr lang="en-US" b="1" dirty="0" err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SS_res</a:t>
                      </a:r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 / </a:t>
                      </a:r>
                      <a:r>
                        <a:rPr lang="en-US" b="1" dirty="0" err="1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SS_tot</a:t>
                      </a:r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ea typeface="Tahoma" pitchFamily="34" charset="0"/>
                          <a:cs typeface="Times New Roman" pitchFamily="18" charset="0"/>
                        </a:rPr>
                        <a:t>Variance explained by the model.</a:t>
                      </a: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Performance: LSTM vs. XGBoost vs. Hybrid Ensemble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31997" y="1331404"/>
          <a:ext cx="8791715" cy="4651959"/>
        </p:xfrm>
        <a:graphic>
          <a:graphicData uri="http://schemas.openxmlformats.org/drawingml/2006/table">
            <a:tbl>
              <a:tblPr/>
              <a:tblGrid>
                <a:gridCol w="1758343"/>
                <a:gridCol w="1758343"/>
                <a:gridCol w="1758343"/>
                <a:gridCol w="1758343"/>
                <a:gridCol w="1758343"/>
              </a:tblGrid>
              <a:tr h="357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Sub-dataset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Variant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RMSE ↓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MAE ↓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R² ↑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57843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atin typeface="Times New Roman"/>
                          <a:ea typeface="Times New Roman"/>
                          <a:cs typeface="Times New Roman"/>
                        </a:rPr>
                        <a:t>FD001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LSTM with Attention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15.58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11.29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0.8488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22.80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14.17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0.6764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Hybrid Ensemble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22.80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14.17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0.6764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atin typeface="Times New Roman"/>
                          <a:ea typeface="Times New Roman"/>
                          <a:cs typeface="Times New Roman"/>
                        </a:rPr>
                        <a:t>FD002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LSTM with Attention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19.07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12.12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0.8028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20.94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14.68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0.7621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Hybrid Ensemble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17.47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11.68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0.8345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57843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atin typeface="Times New Roman"/>
                          <a:ea typeface="Times New Roman"/>
                          <a:cs typeface="Times New Roman"/>
                        </a:rPr>
                        <a:t>FD003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LSTM with Attention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13.54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0.8804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16.90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10.84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0.8138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Hybrid Ensemble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16.90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10.84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0.8138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atin typeface="Times New Roman"/>
                          <a:ea typeface="Times New Roman"/>
                          <a:cs typeface="Times New Roman"/>
                        </a:rPr>
                        <a:t>FD004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LSTM with Attention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23.81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13.95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0.6932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26.72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17.35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0.6134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843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kern="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latin typeface="Times New Roman"/>
                          <a:ea typeface="Times New Roman"/>
                          <a:cs typeface="Times New Roman"/>
                        </a:rPr>
                        <a:t>Hybrid Ensemble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23.56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>
                          <a:latin typeface="Times New Roman"/>
                          <a:ea typeface="Times New Roman"/>
                          <a:cs typeface="Times New Roman"/>
                        </a:rPr>
                        <a:t>13.81</a:t>
                      </a:r>
                      <a:endParaRPr lang="en-US" sz="1100" kern="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>
                          <a:latin typeface="Times New Roman"/>
                          <a:ea typeface="Times New Roman"/>
                          <a:cs typeface="Times New Roman"/>
                        </a:rPr>
                        <a:t>0.6996</a:t>
                      </a:r>
                      <a:endParaRPr lang="en-US" sz="1100" kern="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968478" y="36518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Backend):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399" y="1253555"/>
            <a:ext cx="9173817" cy="499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le 6"/>
          <p:cNvSpPr/>
          <p:nvPr/>
        </p:nvSpPr>
        <p:spPr>
          <a:xfrm>
            <a:off x="9462052" y="5734878"/>
            <a:ext cx="457200" cy="318052"/>
          </a:xfrm>
          <a:prstGeom prst="roundRect">
            <a:avLst/>
          </a:prstGeom>
          <a:solidFill>
            <a:srgbClr val="21395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</a:t>
            </a:r>
            <a:r>
              <a:rPr lang="en-US" dirty="0" smtClean="0"/>
              <a:t> Deployment </a:t>
            </a:r>
            <a:endParaRPr lang="en-US" dirty="0"/>
          </a:p>
        </p:txBody>
      </p:sp>
      <p:pic>
        <p:nvPicPr>
          <p:cNvPr id="1026" name="Picture 2" descr="C:\Users\Admin\OneDrive\Desktop\Projects\Predictive Maintenenance ( capstone)\Project Report\streamli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2696" y="1000356"/>
            <a:ext cx="9980149" cy="49432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0CD185-8DC5-1419-4451-35D097E9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3" y="431954"/>
            <a:ext cx="10684387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Backend):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C66D9A6-CAAC-2FE1-5D40-C668CC98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787" y="1060655"/>
            <a:ext cx="11769213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Backend: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The raw sensor file is parsed, seven non-informative channels are dropped, and only the 14 sensors carrying actual degradation signal are retained.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For multi-condition datasets,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clustering identifies which operating regime each engine is running in and normalizes sensors within that regime so the model sees wear, not altitude changes.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Eight statistical features are computed per sensor, producing a 112-dimensional vector for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while the same data is shaped into a 50-cycle sequence for the LSTM with Attention.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Both models produce independent RUL estimates which are blended using a pre-optimized weight α and clipped to a valid range of 0 to 125 cycles.</a:t>
            </a:r>
          </a:p>
        </p:txBody>
      </p:sp>
    </p:spTree>
    <p:extLst>
      <p:ext uri="{BB962C8B-B14F-4D97-AF65-F5344CB8AC3E}">
        <p14:creationId xmlns="" xmlns:p14="http://schemas.microsoft.com/office/powerpoint/2010/main" val="372823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Complete Module Implementation (Frontend &amp; Backend): </a:t>
            </a:r>
            <a:b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Frontend: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Once a test file is uploaded, seven dashboard tabs activate — each answering a different question about engine health.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The Engine Inspector shows where one engine stands, the Fleet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Heatmap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shows where the entire fleet stands, and Maintenance Alerts tells you who needs attention first.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Sensor Degradation shows why an engine is flagged, and Feature Importance shows what the model is reacting to.</a:t>
            </a:r>
          </a:p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Everything runs in real time, with all model artifacts cached at startup and the full system deployed live on </a:t>
            </a:r>
            <a:r>
              <a:rPr lang="en-US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 Cloud.</a:t>
            </a:r>
          </a:p>
          <a:p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6EA9DB-17D8-3C08-AE05-CEE4B7BD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Technology Stack &amp; Deployment 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2706241-9B43-DD46-A648-11EA8BF80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382" y="1031157"/>
            <a:ext cx="11101105" cy="582684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Frontend Layer: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(7-tab interactive dashboard framework)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Plotly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&amp;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Plotly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Express for all interactive charts and visualizations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Custom CSS for dark theme styling and responsive layout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Backend Layer: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Python 3.9+ as the core runtime environment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Pandas &amp;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NumPy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for data parsing, feature engineering, and sequence construction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Scikit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-learn for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MinMaxScaler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normalization and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clustering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AI &amp; Machine Learning: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PyTorch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2.x for LSTM with Attention model training and inference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1.7 for gradient-boosted statistical feature learning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Hybrid Ensemble with dataset-specific learned blending weight </a:t>
            </a:r>
            <a:r>
              <a:rPr lang="el-GR" sz="1200" dirty="0" smtClean="0">
                <a:latin typeface="Cambria" pitchFamily="18" charset="0"/>
                <a:ea typeface="Cambria" pitchFamily="18" charset="0"/>
              </a:rPr>
              <a:t>α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Model Persistence: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PyTorch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state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dict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(.pt) for LSTM weight storage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JSON format for booster model storage</a:t>
            </a:r>
          </a:p>
          <a:p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Joblib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pkl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) for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scaler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and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NumPy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(.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npy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) for feature metadata</a:t>
            </a:r>
          </a:p>
          <a:p>
            <a:pPr>
              <a:buNone/>
            </a:pPr>
            <a:r>
              <a:rPr lang="en-US" sz="1200" b="1" dirty="0" smtClean="0">
                <a:latin typeface="Cambria" pitchFamily="18" charset="0"/>
                <a:ea typeface="Cambria" pitchFamily="18" charset="0"/>
              </a:rPr>
              <a:t>Deployment Environment: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Deployed on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Community Cloud via 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GitHub</a:t>
            </a:r>
            <a:r>
              <a:rPr lang="en-US" sz="1200" dirty="0" smtClean="0">
                <a:latin typeface="Cambria" pitchFamily="18" charset="0"/>
                <a:ea typeface="Cambria" pitchFamily="18" charset="0"/>
              </a:rPr>
              <a:t> integration</a:t>
            </a: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All 20 model artifacts pre-loaded and cached at startup using @</a:t>
            </a:r>
            <a:r>
              <a:rPr lang="en-US" sz="1200" dirty="0" err="1" smtClean="0">
                <a:latin typeface="Cambria" pitchFamily="18" charset="0"/>
                <a:ea typeface="Cambria" pitchFamily="18" charset="0"/>
              </a:rPr>
              <a:t>st.cache_resource</a:t>
            </a:r>
            <a:endParaRPr lang="en-US" sz="12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200" dirty="0" smtClean="0">
                <a:latin typeface="Cambria" pitchFamily="18" charset="0"/>
                <a:ea typeface="Cambria" pitchFamily="18" charset="0"/>
              </a:rPr>
              <a:t>Zero local installation required — fully browser accessible.</a:t>
            </a:r>
          </a:p>
        </p:txBody>
      </p:sp>
    </p:spTree>
    <p:extLst>
      <p:ext uri="{BB962C8B-B14F-4D97-AF65-F5344CB8AC3E}">
        <p14:creationId xmlns="" xmlns:p14="http://schemas.microsoft.com/office/powerpoint/2010/main" val="3017934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477B3F-FD25-D6E9-99BE-6F81416F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78EE1B9-D6AC-321C-BC0E-1FD21487A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619" y="860460"/>
            <a:ext cx="11759381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Model Development: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LSTM with Attention model fully trained and validated across all 4 C-MAPSS sub-datasets</a:t>
            </a:r>
          </a:p>
          <a:p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regressor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trained with optimized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hyperparameters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and early stopping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Hybrid ensemble blending weights (α) learned and saved per dataset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Preprocessing Pipeline: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Sensor filtering,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KMeans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normalization, feature engineering, and sequence construction fully implemented and tested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All 20 model artifacts (LSTM,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XGBoost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Scaler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Features, Alpha) saved and version controlled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Dashboard: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All 7 tabs fully functional — Engine Inspector, RUL Distribution, Fleet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Heatmap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, Maintenance Alerts, Sensor Degradation, Feature Importance, About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Real-time inference on uploaded test files working end-to-end</a:t>
            </a:r>
          </a:p>
          <a:p>
            <a:pPr>
              <a:buNone/>
            </a:pPr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Deployment:</a:t>
            </a:r>
            <a:endParaRPr lang="en-US" sz="1600" dirty="0" smtClean="0">
              <a:latin typeface="Cambria" pitchFamily="18" charset="0"/>
              <a:ea typeface="Cambria" pitchFamily="18" charset="0"/>
            </a:endParaRP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Live on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Streamlit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Community Cloud via </a:t>
            </a:r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GitHub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 integration</a:t>
            </a:r>
          </a:p>
          <a:p>
            <a:r>
              <a:rPr lang="en-US" sz="1600" dirty="0" smtClean="0">
                <a:latin typeface="Cambria" pitchFamily="18" charset="0"/>
                <a:ea typeface="Cambria" pitchFamily="18" charset="0"/>
              </a:rPr>
              <a:t>Accessible via browser with no local installation required</a:t>
            </a:r>
            <a:endParaRPr lang="en-US" sz="16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78155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8AFD417-8F12-F53E-5D2F-9D1F03105FF8}"/>
              </a:ext>
            </a:extLst>
          </p:cNvPr>
          <p:cNvSpPr txBox="1"/>
          <p:nvPr/>
        </p:nvSpPr>
        <p:spPr>
          <a:xfrm>
            <a:off x="776749" y="1258529"/>
            <a:ext cx="1022554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The </a:t>
            </a:r>
            <a:r>
              <a:rPr lang="en-US" sz="2400" dirty="0" err="1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Github</a:t>
            </a:r>
            <a:r>
              <a:rPr lang="en-US" sz="2400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GitHub Repository Link: 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hlinkClick r:id="rId2"/>
              </a:rPr>
              <a:t>https://github.com/darshan99009/IST_27-Capstone_Project/</a:t>
            </a:r>
            <a:endParaRPr lang="en-US" sz="2400" dirty="0" smtClean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2400" dirty="0" smtClean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2400" b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Streamlit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deployment link</a:t>
            </a:r>
            <a:r>
              <a:rPr lang="en-US" sz="2400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342900" indent="-190500" algn="just">
              <a:buSzPct val="100000"/>
            </a:pPr>
            <a:r>
              <a:rPr lang="en-US" sz="2400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hlinkClick r:id="rId3"/>
              </a:rPr>
              <a:t>https://predictive-main-6zqfnrdbtguflkfgf3vym3.streamlit.app/</a:t>
            </a:r>
            <a:endParaRPr lang="en-US" sz="2400" dirty="0" smtClean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buSzPct val="100000"/>
            </a:pPr>
            <a:endParaRPr lang="en-US" sz="24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24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4705" y="367748"/>
            <a:ext cx="6023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Github and </a:t>
            </a:r>
            <a:r>
              <a:rPr lang="en-US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Streamlit</a:t>
            </a:r>
            <a:r>
              <a:rPr lang="en-US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Cambria" pitchFamily="18" charset="0"/>
                <a:cs typeface="Times New Roman" pitchFamily="18" charset="0"/>
              </a:rPr>
              <a:t> Links:</a:t>
            </a:r>
            <a:endParaRPr lang="en-US" sz="2800" b="1" dirty="0">
              <a:solidFill>
                <a:schemeClr val="bg2">
                  <a:lumMod val="75000"/>
                </a:schemeClr>
              </a:solidFill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97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56C4C0-3D49-0FE8-27E3-6DA16DB8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3538" y="1047750"/>
            <a:ext cx="8924925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726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2E73BE-0E1F-D2CD-95FE-FBF471FA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97" y="274638"/>
            <a:ext cx="10668000" cy="4875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="" xmlns:a16="http://schemas.microsoft.com/office/drawing/2014/main" id="{15F21DE4-A598-4160-EC01-48200964DF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6658" y="1885090"/>
            <a:ext cx="1146769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smtClean="0"/>
              <a:t>[1] AI-Powered Predictive Maintenance System for Industrial Equipment: Reducing Downtime and Costs Through Sensor-Based Analytics, 2025.</a:t>
            </a:r>
          </a:p>
          <a:p>
            <a:endParaRPr lang="en-US" sz="2000" dirty="0" smtClean="0"/>
          </a:p>
          <a:p>
            <a:r>
              <a:rPr lang="en-US" sz="2000" dirty="0" smtClean="0"/>
              <a:t>[2] A. K. S. </a:t>
            </a:r>
            <a:r>
              <a:rPr lang="en-US" sz="2000" dirty="0" err="1" smtClean="0"/>
              <a:t>Jardine</a:t>
            </a:r>
            <a:r>
              <a:rPr lang="en-US" sz="2000" dirty="0" smtClean="0"/>
              <a:t>, D. Lin, and D. </a:t>
            </a:r>
            <a:r>
              <a:rPr lang="en-US" sz="2000" dirty="0" err="1" smtClean="0"/>
              <a:t>Banjevic</a:t>
            </a:r>
            <a:r>
              <a:rPr lang="en-US" sz="2000" dirty="0" smtClean="0"/>
              <a:t>, “A Review on Machinery Diagnostics and Prognostics Implementing Condition-Based Maintenance,” </a:t>
            </a:r>
            <a:r>
              <a:rPr lang="en-US" sz="2000" i="1" dirty="0" smtClean="0"/>
              <a:t>Mechanical Systems and Signal Processing</a:t>
            </a:r>
            <a:r>
              <a:rPr lang="en-US" sz="2000" dirty="0" smtClean="0"/>
              <a:t>, 2006. </a:t>
            </a:r>
          </a:p>
          <a:p>
            <a:endParaRPr lang="en-US" sz="2000" dirty="0" smtClean="0"/>
          </a:p>
          <a:p>
            <a:r>
              <a:rPr lang="en-US" sz="2000" dirty="0" smtClean="0"/>
              <a:t>[3] H. </a:t>
            </a:r>
            <a:r>
              <a:rPr lang="en-US" sz="2000" dirty="0" err="1" smtClean="0"/>
              <a:t>Abouloifa</a:t>
            </a:r>
            <a:r>
              <a:rPr lang="en-US" sz="2000" dirty="0" smtClean="0"/>
              <a:t> and M. </a:t>
            </a:r>
            <a:r>
              <a:rPr lang="en-US" sz="2000" dirty="0" err="1" smtClean="0"/>
              <a:t>Bahaj</a:t>
            </a:r>
            <a:r>
              <a:rPr lang="en-US" sz="2000" dirty="0" smtClean="0"/>
              <a:t>, “Comparing Deep Learning and Fourier Series Models for Equipment Failure Prediction in Predictive Industrial Maintenance 4.0,” </a:t>
            </a:r>
            <a:r>
              <a:rPr lang="en-US" sz="2000" i="1" dirty="0" smtClean="0"/>
              <a:t>Scientific Reports</a:t>
            </a:r>
            <a:r>
              <a:rPr lang="en-US" sz="2000" dirty="0" smtClean="0"/>
              <a:t>, 2025.</a:t>
            </a:r>
          </a:p>
          <a:p>
            <a:endParaRPr lang="en-US" sz="2000" dirty="0" smtClean="0"/>
          </a:p>
          <a:p>
            <a:r>
              <a:rPr lang="en-US" sz="2000" dirty="0" smtClean="0"/>
              <a:t>[4] W. Li and T. Li, “Comparison of Deep Learning Models for Predictive Maintenance in Industrial Manufacturing Systems Using Sensor Data,” </a:t>
            </a:r>
            <a:r>
              <a:rPr lang="en-US" sz="2000" i="1" dirty="0" smtClean="0"/>
              <a:t>Scientific Reports</a:t>
            </a:r>
            <a:r>
              <a:rPr lang="en-US" sz="2000" dirty="0" smtClean="0"/>
              <a:t>, 2025.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2970191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8B8165-DCB0-B897-7BF6-5356F477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7A20CE2-A120-C15B-62CD-2EE53AE2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910" y="951006"/>
            <a:ext cx="11315290" cy="6511677"/>
          </a:xfrm>
        </p:spPr>
        <p:txBody>
          <a:bodyPr>
            <a:noAutofit/>
          </a:bodyPr>
          <a:lstStyle/>
          <a:p>
            <a:r>
              <a:rPr lang="en-US" sz="2000" dirty="0" smtClean="0"/>
              <a:t>[5] J. Garcia, L. Rios-</a:t>
            </a:r>
            <a:r>
              <a:rPr lang="en-US" sz="2000" dirty="0" err="1" smtClean="0"/>
              <a:t>Colque</a:t>
            </a:r>
            <a:r>
              <a:rPr lang="en-US" sz="2000" dirty="0" smtClean="0"/>
              <a:t>, A. </a:t>
            </a:r>
            <a:r>
              <a:rPr lang="en-US" sz="2000" dirty="0" err="1" smtClean="0"/>
              <a:t>Peña</a:t>
            </a:r>
            <a:r>
              <a:rPr lang="en-US" sz="2000" dirty="0" smtClean="0"/>
              <a:t>, and L. Rojas, “Condition Monitoring and Predictive Maintenance in Industrial Equipment: An NLP-Assisted Review of Signal Processing, Hybrid Models, and Implementation Challenges,” </a:t>
            </a:r>
          </a:p>
          <a:p>
            <a:endParaRPr lang="en-US" sz="2000" dirty="0" smtClean="0"/>
          </a:p>
          <a:p>
            <a:r>
              <a:rPr lang="en-US" sz="2000" dirty="0" smtClean="0"/>
              <a:t>[6] H. Singh, “</a:t>
            </a:r>
            <a:r>
              <a:rPr lang="en-US" sz="2000" dirty="0" err="1" smtClean="0"/>
              <a:t>IoT</a:t>
            </a:r>
            <a:r>
              <a:rPr lang="en-US" sz="2000" dirty="0" smtClean="0"/>
              <a:t>-Based Predictive Maintenance in Industrial Machinery,” </a:t>
            </a:r>
            <a:r>
              <a:rPr lang="en-US" sz="2000" i="1" dirty="0" smtClean="0"/>
              <a:t>International Journal for Modern Trends in Science and Technology</a:t>
            </a:r>
            <a:r>
              <a:rPr lang="en-US" sz="2000" dirty="0" smtClean="0"/>
              <a:t>, 2025. </a:t>
            </a:r>
          </a:p>
          <a:p>
            <a:endParaRPr lang="en-US" sz="2000" dirty="0" smtClean="0"/>
          </a:p>
          <a:p>
            <a:r>
              <a:rPr lang="en-US" sz="2000" dirty="0" smtClean="0"/>
              <a:t>[7] C. R. </a:t>
            </a:r>
            <a:r>
              <a:rPr lang="en-US" sz="2000" dirty="0" err="1" smtClean="0"/>
              <a:t>Patil</a:t>
            </a:r>
            <a:r>
              <a:rPr lang="en-US" sz="2000" dirty="0" smtClean="0"/>
              <a:t>, S. K. </a:t>
            </a:r>
            <a:r>
              <a:rPr lang="en-US" sz="2000" dirty="0" err="1" smtClean="0"/>
              <a:t>Jadhav</a:t>
            </a:r>
            <a:r>
              <a:rPr lang="en-US" sz="2000" dirty="0" smtClean="0"/>
              <a:t>, A. L. </a:t>
            </a:r>
            <a:r>
              <a:rPr lang="en-US" sz="2000" dirty="0" err="1" smtClean="0"/>
              <a:t>Bardiya</a:t>
            </a:r>
            <a:r>
              <a:rPr lang="en-US" sz="2000" dirty="0" smtClean="0"/>
              <a:t>, A. P. </a:t>
            </a:r>
            <a:r>
              <a:rPr lang="en-US" sz="2000" dirty="0" err="1" smtClean="0"/>
              <a:t>Davande</a:t>
            </a:r>
            <a:r>
              <a:rPr lang="en-US" sz="2000" dirty="0" smtClean="0"/>
              <a:t>, and M. P. </a:t>
            </a:r>
            <a:r>
              <a:rPr lang="en-US" sz="2000" dirty="0" err="1" smtClean="0"/>
              <a:t>Raverkar</a:t>
            </a:r>
            <a:r>
              <a:rPr lang="en-US" sz="2000" dirty="0" smtClean="0"/>
              <a:t>, “Machine Learning-Based Predictive Maintenance of Industrial Machines,” </a:t>
            </a:r>
            <a:r>
              <a:rPr lang="en-US" sz="2000" i="1" dirty="0" smtClean="0"/>
              <a:t>International Journal of Computer Trends and Technology</a:t>
            </a:r>
            <a:r>
              <a:rPr lang="en-US" sz="2000" dirty="0" smtClean="0"/>
              <a:t>, 2023.</a:t>
            </a:r>
          </a:p>
          <a:p>
            <a:endParaRPr lang="en-US" sz="2000" dirty="0" smtClean="0"/>
          </a:p>
          <a:p>
            <a:r>
              <a:rPr lang="en-US" sz="2000" dirty="0" smtClean="0"/>
              <a:t>[8] J. N. A. </a:t>
            </a:r>
            <a:r>
              <a:rPr lang="en-US" sz="2000" dirty="0" err="1" smtClean="0"/>
              <a:t>Malaiyappan</a:t>
            </a:r>
            <a:r>
              <a:rPr lang="en-US" sz="2000" dirty="0" smtClean="0"/>
              <a:t>, G. </a:t>
            </a:r>
            <a:r>
              <a:rPr lang="en-US" sz="2000" dirty="0" err="1" smtClean="0"/>
              <a:t>Krishnamoorthy</a:t>
            </a:r>
            <a:r>
              <a:rPr lang="en-US" sz="2000" dirty="0" smtClean="0"/>
              <a:t>, and S. </a:t>
            </a:r>
            <a:r>
              <a:rPr lang="en-US" sz="2000" dirty="0" err="1" smtClean="0"/>
              <a:t>Jangoan</a:t>
            </a:r>
            <a:r>
              <a:rPr lang="en-US" sz="2000" dirty="0" smtClean="0"/>
              <a:t>, “Predictive Maintenance Using Machine Learning in Industrial </a:t>
            </a:r>
            <a:r>
              <a:rPr lang="en-US" sz="2000" dirty="0" err="1" smtClean="0"/>
              <a:t>IoT</a:t>
            </a:r>
            <a:r>
              <a:rPr lang="en-US" sz="2000" dirty="0" smtClean="0"/>
              <a:t>,” </a:t>
            </a:r>
            <a:r>
              <a:rPr lang="en-US" sz="2000" i="1" dirty="0" smtClean="0"/>
              <a:t>International Journal of Innovative Science and Research Technology</a:t>
            </a:r>
            <a:r>
              <a:rPr lang="en-US" sz="2000" dirty="0" smtClean="0"/>
              <a:t>, 2024.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105302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D5B0D0-C768-8E24-5491-747DB919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IEEE Paper Format ):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077D116-002D-F5D3-61B2-75C40D8B6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94" y="1201995"/>
            <a:ext cx="11297264" cy="49530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[9] A Review of Predictive Maintenance Methods for Electrical Machines Using Machine Learning Algorithms and Sensor Data, 2025.</a:t>
            </a:r>
          </a:p>
        </p:txBody>
      </p:sp>
    </p:spTree>
    <p:extLst>
      <p:ext uri="{BB962C8B-B14F-4D97-AF65-F5344CB8AC3E}">
        <p14:creationId xmlns="" xmlns:p14="http://schemas.microsoft.com/office/powerpoint/2010/main" val="604143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2837</Words>
  <Application>Microsoft Office PowerPoint</Application>
  <PresentationFormat>Custom</PresentationFormat>
  <Paragraphs>331</Paragraphs>
  <Slides>30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Bioinformatics</vt:lpstr>
      <vt:lpstr> </vt:lpstr>
      <vt:lpstr>Slide 2</vt:lpstr>
      <vt:lpstr>Content:</vt:lpstr>
      <vt:lpstr>Abstract:  </vt:lpstr>
      <vt:lpstr>Problem Statement: </vt:lpstr>
      <vt:lpstr> </vt:lpstr>
      <vt:lpstr>Slide 7</vt:lpstr>
      <vt:lpstr> </vt:lpstr>
      <vt:lpstr>Research Gap Identification </vt:lpstr>
      <vt:lpstr>Research Gap Justification: </vt:lpstr>
      <vt:lpstr>Research Gap Justification:</vt:lpstr>
      <vt:lpstr>Objectives:</vt:lpstr>
      <vt:lpstr>Proposed Solution:</vt:lpstr>
      <vt:lpstr> Final Layered System Architecture:  </vt:lpstr>
      <vt:lpstr>Slide 15</vt:lpstr>
      <vt:lpstr>Experimental Setup &amp; Evaluation Metrics</vt:lpstr>
      <vt:lpstr>Metrics Table</vt:lpstr>
      <vt:lpstr>Comparative Performance: LSTM vs. XGBoost vs. Hybrid Ensemble</vt:lpstr>
      <vt:lpstr>Complete Module Implementation (Frontend &amp; Backend):  </vt:lpstr>
      <vt:lpstr>Streamlit Deployment </vt:lpstr>
      <vt:lpstr>Complete Module Implementation (Frontend &amp; Backend):  </vt:lpstr>
      <vt:lpstr>Complete Module Implementation (Frontend &amp; Backend):  </vt:lpstr>
      <vt:lpstr>Technology Stack &amp; Deployment Environment</vt:lpstr>
      <vt:lpstr>Project Status:</vt:lpstr>
      <vt:lpstr>Slide 25</vt:lpstr>
      <vt:lpstr>Timeline:</vt:lpstr>
      <vt:lpstr>References ( IEEE Paper Format ):</vt:lpstr>
      <vt:lpstr>References ( IEEE Paper Format ):</vt:lpstr>
      <vt:lpstr>References ( IEEE Paper Format ): 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64</cp:revision>
  <dcterms:modified xsi:type="dcterms:W3CDTF">2026-04-08T10:20:05Z</dcterms:modified>
</cp:coreProperties>
</file>